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381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9A84C"/>
                </a:solidFill>
                <a:latin typeface="Sarasa Mono SC"/>
              </a:defRPr>
            </a:pPr>
            <a:r>
              <a:t>MCLUB FX RISK MODELING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  <a:latin typeface="Sarasa Mono SC"/>
              </a:defRPr>
            </a:pPr>
            <a:r>
              <a:t>日本物業投資 — 雙變量壓力測試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5A5A6"/>
                </a:solidFill>
                <a:latin typeface="Sarasa Mono SC"/>
              </a:defRPr>
            </a:pPr>
            <a:r>
              <a:t>2-Variable Stress Test: FX Rate x Property Value (10-Year Holding)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4572000"/>
            <a:ext cx="4114800" cy="1554480"/>
          </a:xfrm>
          <a:prstGeom prst="roundRect">
            <a:avLst/>
          </a:prstGeom>
          <a:solidFill>
            <a:srgbClr val="2C3E50"/>
          </a:solidFill>
          <a:ln w="254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4617720"/>
            <a:ext cx="374903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5F2E8"/>
                </a:solidFill>
                <a:latin typeface="Sarasa Mono SC"/>
              </a:defRPr>
            </a:pPr>
            <a:r>
              <a:t>CONSTANT 固定數據</a:t>
            </a:r>
            <a:br/>
            <a:br/>
            <a:r>
              <a:t>物業: HKD 4,000,000 (JPY 78M)</a:t>
            </a:r>
            <a:br/>
            <a:r>
              <a:t>按提: 40% LTV @ 3% p.a.</a:t>
            </a:r>
            <a:br/>
            <a:r>
              <a:t>按提期限: 15年 (45→60歲)</a:t>
            </a:r>
            <a:br/>
            <a:r>
              <a:t>持倉期: 10 年 (45→55歲)</a:t>
            </a:r>
            <a:br/>
            <a:r>
              <a:t>月供: JPY 215,461</a:t>
            </a:r>
            <a:br/>
            <a:r>
              <a:t>年租金: JPY 4,680,000 (6%)</a:t>
            </a:r>
            <a:br/>
            <a:r>
              <a:t>客戶投入: HKD 2,400,000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4572000"/>
            <a:ext cx="4114800" cy="1554480"/>
          </a:xfrm>
          <a:prstGeom prst="roundRect">
            <a:avLst/>
          </a:prstGeom>
          <a:solidFill>
            <a:srgbClr val="2C3E50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4617720"/>
            <a:ext cx="374903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5F2E8"/>
                </a:solidFill>
                <a:latin typeface="Sarasa Mono SC"/>
              </a:defRPr>
            </a:pPr>
            <a:r>
              <a:t>VARIABLE 變量數據</a:t>
            </a:r>
            <a:br/>
            <a:br/>
            <a:r>
              <a:t>Variable 1: FX Rate (JPY/HKD)</a:t>
            </a:r>
            <a:br/>
            <a:r>
              <a:t>  12個情景: T1/T2/T3 + 歷史</a:t>
            </a:r>
            <a:br/>
            <a:r>
              <a:t>  範圍: JPY +25% ~ -31%</a:t>
            </a:r>
            <a:br/>
            <a:br/>
            <a:r>
              <a:t>Variable 2: Property Value</a:t>
            </a:r>
            <a:br/>
            <a:r>
              <a:t>  7個情景: 崩盤~增長+80%</a:t>
            </a:r>
            <a:br/>
            <a:r>
              <a:t>  範圍: 10 年 -30% ~ +80%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5A5A6"/>
                </a:solidFill>
                <a:latin typeface="Sarasa Mono SC"/>
              </a:defRPr>
            </a:pPr>
            <a:r>
              <a:t>PZC Group 百盛大通 — MCLUB FX Risk Modeling Service | 雙變量壓力測試報告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arasa Mono SC"/>
              </a:defRPr>
            </a:pPr>
            <a:r>
              <a:t>雙變量壓力測試 — 84個情景年化回報矩陣 (10 年)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tress_2va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11795760" cy="49377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5897880"/>
            <a:ext cx="3474720" cy="411480"/>
          </a:xfrm>
          <a:prstGeom prst="roundRect">
            <a:avLst/>
          </a:prstGeom>
          <a:solidFill>
            <a:srgbClr val="1A3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59161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E74C3C"/>
                </a:solidFill>
                <a:latin typeface="Sarasa Mono SC"/>
              </a:defRPr>
            </a:pPr>
            <a:r>
              <a:t>最差情景: 1.29% 年化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5897880"/>
            <a:ext cx="3474720" cy="411480"/>
          </a:xfrm>
          <a:prstGeom prst="roundRect">
            <a:avLst/>
          </a:prstGeom>
          <a:solidFill>
            <a:srgbClr val="2C2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59161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ECC71"/>
                </a:solidFill>
                <a:latin typeface="Sarasa Mono SC"/>
              </a:defRPr>
            </a:pPr>
            <a:r>
              <a:t>虫本情景: 0/84 (0%)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5897880"/>
            <a:ext cx="3566160" cy="411480"/>
          </a:xfrm>
          <a:prstGeom prst="roundRect">
            <a:avLst/>
          </a:prstGeom>
          <a:solidFill>
            <a:srgbClr val="1A3C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5916168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C9A84C"/>
                </a:solidFill>
                <a:latin typeface="Sarasa Mono SC"/>
              </a:defRPr>
            </a:pPr>
            <a:r>
              <a:t>基準情景: 6.39% 年化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5A5A6"/>
                </a:solidFill>
                <a:latin typeface="Sarasa Mono SC"/>
              </a:defRPr>
            </a:pPr>
            <a:r>
              <a:t>PZC Group 百盛大通 — MCLUB FX Risk Modeling Service | 雙變量壓力測試報告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arasa Mono SC"/>
              </a:defRPr>
            </a:pPr>
            <a:r>
              <a:t>不同房價情景下的匯率敏感度曲線 (10 年)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tress_2var_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11612880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5A5A6"/>
                </a:solidFill>
                <a:latin typeface="Sarasa Mono SC"/>
              </a:defRPr>
            </a:pPr>
            <a:r>
              <a:t>PZC Group 百盛大通 — MCLUB FX Risk Modeling Service | 雙變量壓力測試報告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arasa Mono SC"/>
              </a:defRPr>
            </a:pPr>
            <a:r>
              <a:t>盈虧平衡風險地圖 — FX Rate x Property Value (10 年)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tress_2var_cont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11612880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5A5A6"/>
                </a:solidFill>
                <a:latin typeface="Sarasa Mono SC"/>
              </a:defRPr>
            </a:pPr>
            <a:r>
              <a:t>PZC Group 百盛大通 — MCLUB FX Risk Modeling Service | 雙變量壓力測試報告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arasa Mono SC"/>
              </a:defRPr>
            </a:pPr>
            <a:r>
              <a:t>壓力測試完整結果表 (10 年年化回報)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" y="960120"/>
          <a:ext cx="118872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883920"/>
                <a:gridCol w="883920"/>
                <a:gridCol w="883920"/>
                <a:gridCol w="883920"/>
                <a:gridCol w="883920"/>
                <a:gridCol w="883920"/>
                <a:gridCol w="883920"/>
                <a:gridCol w="883920"/>
                <a:gridCol w="883920"/>
                <a:gridCol w="883920"/>
                <a:gridCol w="883920"/>
                <a:gridCol w="883920"/>
              </a:tblGrid>
              <a:tr h="62865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房價\匯率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JPY升+25%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JPY升+20%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JPY升+15%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JPY升+10%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JPY升+5%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基準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JPY貶-5%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JPY貶-10%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JPY貶-15%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JPY貶-20%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JPY貶-30%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2022危機-31%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Sarasa Mono SC"/>
                        </a:defRPr>
                      </a:pPr>
                      <a:r>
                        <a:t>崩盤 -22%</a:t>
                      </a:r>
                    </a:p>
                  </a:txBody>
                  <a:tcPr>
                    <a:solidFill>
                      <a:srgbClr val="2525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82E0AA"/>
                          </a:solidFill>
                          <a:latin typeface="Sarasa Mono SC"/>
                        </a:defRPr>
                      </a:pPr>
                      <a:r>
                        <a:t>7.10%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6.41%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5.77%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5.16%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F39C12"/>
                          </a:solidFill>
                          <a:latin typeface="Sarasa Mono SC"/>
                        </a:defRPr>
                      </a:pPr>
                      <a:r>
                        <a:t>4.60%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F39C12"/>
                          </a:solidFill>
                          <a:latin typeface="Sarasa Mono SC"/>
                        </a:defRPr>
                      </a:pPr>
                      <a:r>
                        <a:t>4.06%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F39C12"/>
                          </a:solidFill>
                          <a:latin typeface="Sarasa Mono SC"/>
                        </a:defRPr>
                      </a:pPr>
                      <a:r>
                        <a:t>3.56%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F39C12"/>
                          </a:solidFill>
                          <a:latin typeface="Sarasa Mono SC"/>
                        </a:defRPr>
                      </a:pPr>
                      <a:r>
                        <a:t>3.08%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E74C3C"/>
                          </a:solidFill>
                          <a:latin typeface="Sarasa Mono SC"/>
                        </a:defRPr>
                      </a:pPr>
                      <a:r>
                        <a:t>2.62%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E74C3C"/>
                          </a:solidFill>
                          <a:latin typeface="Sarasa Mono SC"/>
                        </a:defRPr>
                      </a:pPr>
                      <a:r>
                        <a:t>2.18%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E74C3C"/>
                          </a:solidFill>
                          <a:latin typeface="Sarasa Mono SC"/>
                        </a:defRPr>
                      </a:pPr>
                      <a:r>
                        <a:t>1.37%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E74C3C"/>
                          </a:solidFill>
                          <a:latin typeface="Sarasa Mono SC"/>
                        </a:defRPr>
                      </a:pPr>
                      <a:r>
                        <a:t>1.29%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Sarasa Mono SC"/>
                        </a:defRPr>
                      </a:pPr>
                      <a:r>
                        <a:t>下跌 -10%</a:t>
                      </a:r>
                    </a:p>
                  </a:txBody>
                  <a:tcPr>
                    <a:solidFill>
                      <a:srgbClr val="2525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82E0AA"/>
                          </a:solidFill>
                          <a:latin typeface="Sarasa Mono SC"/>
                        </a:defRPr>
                      </a:pPr>
                      <a:r>
                        <a:t>8.44%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82E0AA"/>
                          </a:solidFill>
                          <a:latin typeface="Sarasa Mono SC"/>
                        </a:defRPr>
                      </a:pPr>
                      <a:r>
                        <a:t>7.74%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82E0AA"/>
                          </a:solidFill>
                          <a:latin typeface="Sarasa Mono SC"/>
                        </a:defRPr>
                      </a:pPr>
                      <a:r>
                        <a:t>7.09%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6.48%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5.91%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5.37%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F39C12"/>
                          </a:solidFill>
                          <a:latin typeface="Sarasa Mono SC"/>
                        </a:defRPr>
                      </a:pPr>
                      <a:r>
                        <a:t>4.85%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F39C12"/>
                          </a:solidFill>
                          <a:latin typeface="Sarasa Mono SC"/>
                        </a:defRPr>
                      </a:pPr>
                      <a:r>
                        <a:t>4.37%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F39C12"/>
                          </a:solidFill>
                          <a:latin typeface="Sarasa Mono SC"/>
                        </a:defRPr>
                      </a:pPr>
                      <a:r>
                        <a:t>3.90%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F39C12"/>
                          </a:solidFill>
                          <a:latin typeface="Sarasa Mono SC"/>
                        </a:defRPr>
                      </a:pPr>
                      <a:r>
                        <a:t>3.46%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E74C3C"/>
                          </a:solidFill>
                          <a:latin typeface="Sarasa Mono SC"/>
                        </a:defRPr>
                      </a:pPr>
                      <a:r>
                        <a:t>2.64%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E74C3C"/>
                          </a:solidFill>
                          <a:latin typeface="Sarasa Mono SC"/>
                        </a:defRPr>
                      </a:pPr>
                      <a:r>
                        <a:t>2.56%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Sarasa Mono SC"/>
                        </a:defRPr>
                      </a:pPr>
                      <a:r>
                        <a:t>持平 0%</a:t>
                      </a:r>
                    </a:p>
                  </a:txBody>
                  <a:tcPr>
                    <a:solidFill>
                      <a:srgbClr val="2525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82E0AA"/>
                          </a:solidFill>
                          <a:latin typeface="Sarasa Mono SC"/>
                        </a:defRPr>
                      </a:pPr>
                      <a:r>
                        <a:t>9.50%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82E0AA"/>
                          </a:solidFill>
                          <a:latin typeface="Sarasa Mono SC"/>
                        </a:defRPr>
                      </a:pPr>
                      <a:r>
                        <a:t>8.79%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82E0AA"/>
                          </a:solidFill>
                          <a:latin typeface="Sarasa Mono SC"/>
                        </a:defRPr>
                      </a:pPr>
                      <a:r>
                        <a:t>8.13%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82E0AA"/>
                          </a:solidFill>
                          <a:latin typeface="Sarasa Mono SC"/>
                        </a:defRPr>
                      </a:pPr>
                      <a:r>
                        <a:t>7.52%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6.94%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6.39%</a:t>
                      </a:r>
                    </a:p>
                  </a:txBody>
                  <a:tcPr>
                    <a:solidFill>
                      <a:srgbClr val="3A35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5.87%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5.38%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F39C12"/>
                          </a:solidFill>
                          <a:latin typeface="Sarasa Mono SC"/>
                        </a:defRPr>
                      </a:pPr>
                      <a:r>
                        <a:t>4.91%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F39C12"/>
                          </a:solidFill>
                          <a:latin typeface="Sarasa Mono SC"/>
                        </a:defRPr>
                      </a:pPr>
                      <a:r>
                        <a:t>4.47%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F39C12"/>
                          </a:solidFill>
                          <a:latin typeface="Sarasa Mono SC"/>
                        </a:defRPr>
                      </a:pPr>
                      <a:r>
                        <a:t>3.64%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F39C12"/>
                          </a:solidFill>
                          <a:latin typeface="Sarasa Mono SC"/>
                        </a:defRPr>
                      </a:pPr>
                      <a:r>
                        <a:t>3.56%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Sarasa Mono SC"/>
                        </a:defRPr>
                      </a:pPr>
                      <a:r>
                        <a:t>增長 +10%</a:t>
                      </a:r>
                    </a:p>
                  </a:txBody>
                  <a:tcPr>
                    <a:solidFill>
                      <a:srgbClr val="2525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2ECC71"/>
                          </a:solidFill>
                          <a:latin typeface="Sarasa Mono SC"/>
                        </a:defRPr>
                      </a:pPr>
                      <a:r>
                        <a:t>10.42%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82E0AA"/>
                          </a:solidFill>
                          <a:latin typeface="Sarasa Mono SC"/>
                        </a:defRPr>
                      </a:pPr>
                      <a:r>
                        <a:t>9.71%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82E0AA"/>
                          </a:solidFill>
                          <a:latin typeface="Sarasa Mono SC"/>
                        </a:defRPr>
                      </a:pPr>
                      <a:r>
                        <a:t>9.05%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82E0AA"/>
                          </a:solidFill>
                          <a:latin typeface="Sarasa Mono SC"/>
                        </a:defRPr>
                      </a:pPr>
                      <a:r>
                        <a:t>8.43%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82E0AA"/>
                          </a:solidFill>
                          <a:latin typeface="Sarasa Mono SC"/>
                        </a:defRPr>
                      </a:pPr>
                      <a:r>
                        <a:t>7.84%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82E0AA"/>
                          </a:solidFill>
                          <a:latin typeface="Sarasa Mono SC"/>
                        </a:defRPr>
                      </a:pPr>
                      <a:r>
                        <a:t>7.29%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6.77%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6.27%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5.80%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5.35%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F39C12"/>
                          </a:solidFill>
                          <a:latin typeface="Sarasa Mono SC"/>
                        </a:defRPr>
                      </a:pPr>
                      <a:r>
                        <a:t>4.51%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F39C12"/>
                          </a:solidFill>
                          <a:latin typeface="Sarasa Mono SC"/>
                        </a:defRPr>
                      </a:pPr>
                      <a:r>
                        <a:t>4.43%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Sarasa Mono SC"/>
                        </a:defRPr>
                      </a:pPr>
                      <a:r>
                        <a:t>增長 +19%</a:t>
                      </a:r>
                    </a:p>
                  </a:txBody>
                  <a:tcPr>
                    <a:solidFill>
                      <a:srgbClr val="2525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2ECC71"/>
                          </a:solidFill>
                          <a:latin typeface="Sarasa Mono SC"/>
                        </a:defRPr>
                      </a:pPr>
                      <a:r>
                        <a:t>11.25%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2ECC71"/>
                          </a:solidFill>
                          <a:latin typeface="Sarasa Mono SC"/>
                        </a:defRPr>
                      </a:pPr>
                      <a:r>
                        <a:t>10.53%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82E0AA"/>
                          </a:solidFill>
                          <a:latin typeface="Sarasa Mono SC"/>
                        </a:defRPr>
                      </a:pPr>
                      <a:r>
                        <a:t>9.86%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82E0AA"/>
                          </a:solidFill>
                          <a:latin typeface="Sarasa Mono SC"/>
                        </a:defRPr>
                      </a:pPr>
                      <a:r>
                        <a:t>9.24%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82E0AA"/>
                          </a:solidFill>
                          <a:latin typeface="Sarasa Mono SC"/>
                        </a:defRPr>
                      </a:pPr>
                      <a:r>
                        <a:t>8.65%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82E0AA"/>
                          </a:solidFill>
                          <a:latin typeface="Sarasa Mono SC"/>
                        </a:defRPr>
                      </a:pPr>
                      <a:r>
                        <a:t>8.09%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82E0AA"/>
                          </a:solidFill>
                          <a:latin typeface="Sarasa Mono SC"/>
                        </a:defRPr>
                      </a:pPr>
                      <a:r>
                        <a:t>7.57%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82E0AA"/>
                          </a:solidFill>
                          <a:latin typeface="Sarasa Mono SC"/>
                        </a:defRPr>
                      </a:pPr>
                      <a:r>
                        <a:t>7.07%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6.59%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6.14%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5.29%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5.21%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Sarasa Mono SC"/>
                        </a:defRPr>
                      </a:pPr>
                      <a:r>
                        <a:t>增長 +31%</a:t>
                      </a:r>
                    </a:p>
                  </a:txBody>
                  <a:tcPr>
                    <a:solidFill>
                      <a:srgbClr val="2525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2ECC71"/>
                          </a:solidFill>
                          <a:latin typeface="Sarasa Mono SC"/>
                        </a:defRPr>
                      </a:pPr>
                      <a:r>
                        <a:t>12.22%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2ECC71"/>
                          </a:solidFill>
                          <a:latin typeface="Sarasa Mono SC"/>
                        </a:defRPr>
                      </a:pPr>
                      <a:r>
                        <a:t>11.50%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2ECC71"/>
                          </a:solidFill>
                          <a:latin typeface="Sarasa Mono SC"/>
                        </a:defRPr>
                      </a:pPr>
                      <a:r>
                        <a:t>10.82%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2ECC71"/>
                          </a:solidFill>
                          <a:latin typeface="Sarasa Mono SC"/>
                        </a:defRPr>
                      </a:pPr>
                      <a:r>
                        <a:t>10.19%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82E0AA"/>
                          </a:solidFill>
                          <a:latin typeface="Sarasa Mono SC"/>
                        </a:defRPr>
                      </a:pPr>
                      <a:r>
                        <a:t>9.60%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82E0AA"/>
                          </a:solidFill>
                          <a:latin typeface="Sarasa Mono SC"/>
                        </a:defRPr>
                      </a:pPr>
                      <a:r>
                        <a:t>9.04%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82E0AA"/>
                          </a:solidFill>
                          <a:latin typeface="Sarasa Mono SC"/>
                        </a:defRPr>
                      </a:pPr>
                      <a:r>
                        <a:t>8.51%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82E0AA"/>
                          </a:solidFill>
                          <a:latin typeface="Sarasa Mono SC"/>
                        </a:defRPr>
                      </a:pPr>
                      <a:r>
                        <a:t>8.00%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82E0AA"/>
                          </a:solidFill>
                          <a:latin typeface="Sarasa Mono SC"/>
                        </a:defRPr>
                      </a:pPr>
                      <a:r>
                        <a:t>7.52%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82E0AA"/>
                          </a:solidFill>
                          <a:latin typeface="Sarasa Mono SC"/>
                        </a:defRPr>
                      </a:pPr>
                      <a:r>
                        <a:t>7.07%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6.21%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C9A84C"/>
                          </a:solidFill>
                          <a:latin typeface="Sarasa Mono SC"/>
                        </a:defRPr>
                      </a:pPr>
                      <a:r>
                        <a:t>6.13%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Sarasa Mono SC"/>
                        </a:defRPr>
                      </a:pPr>
                      <a:r>
                        <a:t>增長 +48%</a:t>
                      </a:r>
                    </a:p>
                  </a:txBody>
                  <a:tcPr>
                    <a:solidFill>
                      <a:srgbClr val="2525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2ECC71"/>
                          </a:solidFill>
                          <a:latin typeface="Sarasa Mono SC"/>
                        </a:defRPr>
                      </a:pPr>
                      <a:r>
                        <a:t>13.47%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2ECC71"/>
                          </a:solidFill>
                          <a:latin typeface="Sarasa Mono SC"/>
                        </a:defRPr>
                      </a:pPr>
                      <a:r>
                        <a:t>12.74%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2ECC71"/>
                          </a:solidFill>
                          <a:latin typeface="Sarasa Mono SC"/>
                        </a:defRPr>
                      </a:pPr>
                      <a:r>
                        <a:t>12.06%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2ECC71"/>
                          </a:solidFill>
                          <a:latin typeface="Sarasa Mono SC"/>
                        </a:defRPr>
                      </a:pPr>
                      <a:r>
                        <a:t>11.42%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2ECC71"/>
                          </a:solidFill>
                          <a:latin typeface="Sarasa Mono SC"/>
                        </a:defRPr>
                      </a:pPr>
                      <a:r>
                        <a:t>10.82%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2ECC71"/>
                          </a:solidFill>
                          <a:latin typeface="Sarasa Mono SC"/>
                        </a:defRPr>
                      </a:pPr>
                      <a:r>
                        <a:t>10.25%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82E0AA"/>
                          </a:solidFill>
                          <a:latin typeface="Sarasa Mono SC"/>
                        </a:defRPr>
                      </a:pPr>
                      <a:r>
                        <a:t>9.71%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82E0AA"/>
                          </a:solidFill>
                          <a:latin typeface="Sarasa Mono SC"/>
                        </a:defRPr>
                      </a:pPr>
                      <a:r>
                        <a:t>9.21%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82E0AA"/>
                          </a:solidFill>
                          <a:latin typeface="Sarasa Mono SC"/>
                        </a:defRPr>
                      </a:pPr>
                      <a:r>
                        <a:t>8.72%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82E0AA"/>
                          </a:solidFill>
                          <a:latin typeface="Sarasa Mono SC"/>
                        </a:defRPr>
                      </a:pPr>
                      <a:r>
                        <a:t>8.26%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82E0AA"/>
                          </a:solidFill>
                          <a:latin typeface="Sarasa Mono SC"/>
                        </a:defRPr>
                      </a:pPr>
                      <a:r>
                        <a:t>7.40%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0">
                          <a:solidFill>
                            <a:srgbClr val="82E0AA"/>
                          </a:solidFill>
                          <a:latin typeface="Sarasa Mono SC"/>
                        </a:defRPr>
                      </a:pPr>
                      <a:r>
                        <a:t>7.31%</a:t>
                      </a:r>
                    </a:p>
                  </a:txBody>
                  <a:tcPr>
                    <a:solidFill>
                      <a:srgbClr val="20222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5A5A6"/>
                </a:solidFill>
                <a:latin typeface="Sarasa Mono SC"/>
              </a:defRPr>
            </a:pPr>
            <a:r>
              <a:t>PZC Group 百盛大通 — MCLUB FX Risk Modeling Service | 雙變量壓力測試報告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Sarasa Mono SC"/>
              </a:defRPr>
            </a:pPr>
            <a:r>
              <a:t>壓力測試結論與風險評估 (10 年持倉)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381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6858000" cy="804672"/>
          </a:xfrm>
          <a:prstGeom prst="roundRect">
            <a:avLst/>
          </a:prstGeom>
          <a:solidFill>
            <a:srgbClr val="2C3E50"/>
          </a:solidFill>
          <a:ln w="254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1E3A5F"/>
                </a:solidFill>
                <a:latin typeface="Sarasa Mono SC"/>
              </a:defRPr>
            </a:pPr>
            <a:r>
              <a:t>測試範圍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4416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5F2E8"/>
                </a:solidFill>
                <a:latin typeface="Sarasa Mono SC"/>
              </a:defRPr>
            </a:pPr>
            <a:r>
              <a:t>12個匯率情景 x 7個房價情景 = 84個壓力測試情景</a:t>
            </a:r>
            <a:br/>
            <a:r>
              <a:t>覆蓋MCLUB三層架構（T1/T2/T3）+ 2022歷史參照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92808"/>
            <a:ext cx="6858000" cy="804672"/>
          </a:xfrm>
          <a:prstGeom prst="roundRect">
            <a:avLst/>
          </a:prstGeom>
          <a:solidFill>
            <a:srgbClr val="2C3E50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385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2ECC71"/>
                </a:solidFill>
                <a:latin typeface="Sarasa Mono SC"/>
              </a:defRPr>
            </a:pPr>
            <a:r>
              <a:t>零虫本概率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85416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5F2E8"/>
                </a:solidFill>
                <a:latin typeface="Sarasa Mono SC"/>
              </a:defRPr>
            </a:pPr>
            <a:r>
              <a:t>全部84個情景均錄得正回報，最差年化仍達1.29%</a:t>
            </a:r>
            <a:br/>
            <a:r>
              <a:t>即使房價崩盤30% + 日圃貶值31%同時發生，投資仍可保本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34056"/>
            <a:ext cx="6858000" cy="804672"/>
          </a:xfrm>
          <a:prstGeom prst="roundRect">
            <a:avLst/>
          </a:prstGeom>
          <a:solidFill>
            <a:srgbClr val="2C3E50"/>
          </a:solidFill>
          <a:ln w="254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79776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C9A84C"/>
                </a:solidFill>
                <a:latin typeface="Sarasa Mono SC"/>
              </a:defRPr>
            </a:pPr>
            <a:r>
              <a:t>基準情景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26664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5F2E8"/>
                </a:solidFill>
                <a:latin typeface="Sarasa Mono SC"/>
              </a:defRPr>
            </a:pPr>
            <a:r>
              <a:t>房價持平 + 現匯率 = 年化6.39%</a:t>
            </a:r>
            <a:br/>
            <a:r>
              <a:t>若房價年增3% + 現匯率 = 年化約8.5%+（含資本增值）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575304"/>
            <a:ext cx="6858000" cy="804672"/>
          </a:xfrm>
          <a:prstGeom prst="roundRect">
            <a:avLst/>
          </a:prstGeom>
          <a:solidFill>
            <a:srgbClr val="2C3E50"/>
          </a:solidFill>
          <a:ln w="25400">
            <a:solidFill>
              <a:srgbClr val="1E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621024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1E3A5F"/>
                </a:solidFill>
                <a:latin typeface="Sarasa Mono SC"/>
              </a:defRPr>
            </a:pPr>
            <a:r>
              <a:t>自然對沖效應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867912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5F2E8"/>
                </a:solidFill>
                <a:latin typeface="Sarasa Mono SC"/>
              </a:defRPr>
            </a:pPr>
            <a:r>
              <a:t>日圃按提+日圃租金形成幣種匹配對沖</a:t>
            </a:r>
            <a:br/>
            <a:r>
              <a:t>匯率風險僅影響淨租金及淨套现價值，非全部物業價值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416552"/>
            <a:ext cx="6858000" cy="804672"/>
          </a:xfrm>
          <a:prstGeom prst="roundRect">
            <a:avLst/>
          </a:prstGeom>
          <a:solidFill>
            <a:srgbClr val="2C3E50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46227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3498DB"/>
                </a:solidFill>
                <a:latin typeface="Sarasa Mono SC"/>
              </a:defRPr>
            </a:pPr>
            <a:r>
              <a:t>槓端安全邊際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0916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5F2E8"/>
                </a:solidFill>
                <a:latin typeface="Sarasa Mono SC"/>
              </a:defRPr>
            </a:pPr>
            <a:r>
              <a:t>40% LTV提供充足緩衝，物業需貶值超60%才觸及貸款安全線</a:t>
            </a:r>
            <a:br/>
            <a:r>
              <a:t>按提本金償還持續降低貸款餘額，10 年內已償還61.6%本金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257800"/>
            <a:ext cx="6858000" cy="804672"/>
          </a:xfrm>
          <a:prstGeom prst="roundRect">
            <a:avLst/>
          </a:prstGeom>
          <a:solidFill>
            <a:srgbClr val="2C3E50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303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1">
                <a:solidFill>
                  <a:srgbClr val="E74C3C"/>
                </a:solidFill>
                <a:latin typeface="Sarasa Mono SC"/>
              </a:defRPr>
            </a:pPr>
            <a:r>
              <a:t>雙重風險最差情景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550408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5F2E8"/>
                </a:solidFill>
                <a:latin typeface="Sarasa Mono SC"/>
              </a:defRPr>
            </a:pPr>
            <a:r>
              <a:t>房價-30% + JPY貶31%（2022危機）</a:t>
            </a:r>
            <a:br/>
            <a:r>
              <a:t>年化1.29%，10 年總ROI +3.6%，仍能保本并獲得正回報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1051560"/>
            <a:ext cx="4114800" cy="5029200"/>
          </a:xfrm>
          <a:prstGeom prst="roundRect">
            <a:avLst/>
          </a:prstGeom>
          <a:solidFill>
            <a:srgbClr val="2C3E50"/>
          </a:solidFill>
          <a:ln w="2540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11430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C9A84C"/>
                </a:solidFill>
                <a:latin typeface="Sarasa Mono SC"/>
              </a:defRPr>
            </a:pPr>
            <a:r>
              <a:t>風險評級總結 (10 年)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160020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5A5A6"/>
                </a:solidFill>
                <a:latin typeface="Sarasa Mono SC"/>
              </a:defRPr>
            </a:pPr>
            <a:r>
              <a:t>整體風險等級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185623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Sarasa Mono SC"/>
              </a:defRPr>
            </a:pPr>
            <a:r>
              <a:t>LOW-MODERATE</a:t>
            </a:r>
            <a:br/>
            <a:r>
              <a:t>中等偏低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350008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5A5A6"/>
                </a:solidFill>
                <a:latin typeface="Sarasa Mono SC"/>
              </a:defRPr>
            </a:pPr>
            <a:r>
              <a:t>FX風險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0" y="260604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2E0AA"/>
                </a:solidFill>
                <a:latin typeface="Sarasa Mono SC"/>
              </a:defRPr>
            </a:pPr>
            <a:r>
              <a:t>MITIGATED</a:t>
            </a:r>
            <a:br/>
            <a:r>
              <a:t>已被自然對沖緩解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3099816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5A5A6"/>
                </a:solidFill>
                <a:latin typeface="Sarasa Mono SC"/>
              </a:defRPr>
            </a:pPr>
            <a:r>
              <a:t>房價風險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3355848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9A84C"/>
                </a:solidFill>
                <a:latin typeface="Sarasa Mono SC"/>
              </a:defRPr>
            </a:pPr>
            <a:r>
              <a:t>LOW-MODERATE</a:t>
            </a:r>
            <a:br/>
            <a:r>
              <a:t>10 年持有分散風險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3849624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5A5A6"/>
                </a:solidFill>
                <a:latin typeface="Sarasa Mono SC"/>
              </a:defRPr>
            </a:pPr>
            <a:r>
              <a:t>利率風險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4105656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Sarasa Mono SC"/>
              </a:defRPr>
            </a:pPr>
            <a:r>
              <a:t>LOW</a:t>
            </a:r>
            <a:br/>
            <a:r>
              <a:t>日本3%處歷史低位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459943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5A5A6"/>
                </a:solidFill>
                <a:latin typeface="Sarasa Mono SC"/>
              </a:defRPr>
            </a:pPr>
            <a:r>
              <a:t>流動性風險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4855464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39C12"/>
                </a:solidFill>
                <a:latin typeface="Sarasa Mono SC"/>
              </a:defRPr>
            </a:pPr>
            <a:r>
              <a:t>MODERATE</a:t>
            </a:r>
            <a:br/>
            <a:r>
              <a:t>日本物業流動性偏低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53492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5A5A6"/>
                </a:solidFill>
                <a:latin typeface="Sarasa Mono SC"/>
              </a:defRPr>
            </a:pPr>
            <a:r>
              <a:t>建議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5605272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E44AD"/>
                </a:solidFill>
                <a:latin typeface="Sarasa Mono SC"/>
              </a:defRPr>
            </a:pPr>
            <a:r>
              <a:t>適用MCLUB進階版</a:t>
            </a:r>
            <a:br/>
            <a:r>
              <a:t>(Advanced)服務層級</a:t>
            </a:r>
            <a:br/>
            <a:r>
              <a:t>HK$128,000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5A5A6"/>
                </a:solidFill>
                <a:latin typeface="Sarasa Mono SC"/>
              </a:defRPr>
            </a:pPr>
            <a:r>
              <a:t>PZC Group 百盛大通 — MCLUB FX Risk Modeling Service | 雙變量壓力測試報告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