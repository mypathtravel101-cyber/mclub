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800" b="1">
                <a:solidFill>
                  <a:srgbClr val="C9A84C"/>
                </a:solidFill>
                <a:latin typeface="Microsoft YaHei"/>
              </a:defRPr>
            </a:pPr>
            <a:r>
              <a:t>PZC Group</a:t>
            </a:r>
          </a:p>
          <a:p>
            <a:pPr algn="l">
              <a:spcAft>
                <a:spcPts val="80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FX Stress Test Report</a:t>
            </a:r>
          </a:p>
          <a:p>
            <a:pPr algn="l">
              <a:spcAft>
                <a:spcPts val="4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章節三：壓力測試方法論架構</a:t>
            </a:r>
          </a:p>
          <a:p>
            <a:pPr algn="l">
              <a:spcAft>
                <a:spcPts val="1600"/>
              </a:spcAft>
              <a:defRPr sz="1800" b="0">
                <a:solidFill>
                  <a:srgbClr val="CBD5E1"/>
                </a:solidFill>
                <a:latin typeface="Microsoft YaHei"/>
              </a:defRPr>
            </a:pPr>
            <a:r>
              <a:t>章節四：測試方法與技術架構</a:t>
            </a:r>
          </a:p>
          <a:p>
            <a:pPr algn="l">
              <a:spcAft>
                <a:spcPts val="0"/>
              </a:spcAft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Stress Testing Methodology  &amp;  Technical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5669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百盛大通  |  MCLUB FX Risk Modeling Service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章節三：壓力測試方法論架構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5486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800" b="1">
                <a:solidFill>
                  <a:srgbClr val="1E40AF"/>
                </a:solidFill>
                <a:latin typeface="Microsoft YaHei"/>
              </a:defRPr>
            </a:pPr>
            <a:r>
              <a:t>3.1 壓力測試的核心原理</a:t>
            </a:r>
          </a:p>
          <a:p>
            <a:pPr algn="l">
              <a:spcAft>
                <a:spcPts val="800"/>
              </a:spcAft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匯率壓力測試透過情境分析（Scenario Analysis）評估極端但合理的匯率變動對資產組合的影響。</a:t>
            </a:r>
          </a:p>
          <a:p>
            <a:pPr algn="l">
              <a:spcAft>
                <a:spcPts val="1600"/>
              </a:spcAft>
              <a:defRPr sz="1300" b="0">
                <a:solidFill>
                  <a:srgbClr val="64748B"/>
                </a:solidFill>
                <a:latin typeface="Microsoft YaHei"/>
              </a:defRPr>
            </a:pPr>
            <a:r>
              <a:t>與傳統 VaR 不同，壓力測試不依賴歷史樣本的機率分佈假設，而是主動構建極端情境，揭示尾部風險（Tail Risk）。</a:t>
            </a:r>
          </a:p>
          <a:p>
            <a:pPr algn="l">
              <a:spcAft>
                <a:spcPts val="8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三個核心步驟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3840480"/>
            <a:ext cx="17373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57784" y="3849624"/>
            <a:ext cx="1719072" cy="45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143000" y="4023360"/>
            <a:ext cx="548640" cy="548640"/>
          </a:xfrm>
          <a:prstGeom prst="ellipse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情境定義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Scenario Definition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3949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根據歷史事件、宏觀經濟前瞻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或監管要求設定匯率變動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468880" y="3840480"/>
            <a:ext cx="17373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478024" y="3849624"/>
            <a:ext cx="1719072" cy="45720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063240" y="4023360"/>
            <a:ext cx="548640" cy="548640"/>
          </a:xfrm>
          <a:prstGeom prst="ellipse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資產重估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6032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Revaluation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53949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將情境匯率應用於客戶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實際資產組合進行重估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89120" y="3840480"/>
            <a:ext cx="1737360" cy="25603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398264" y="3849624"/>
            <a:ext cx="1719072" cy="45720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983480" y="4023360"/>
            <a:ext cx="548640" cy="548640"/>
          </a:xfrm>
          <a:prstGeom prst="ellipse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200"/>
              </a:spcBef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4663440"/>
            <a:ext cx="1554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損益分析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4983480"/>
            <a:ext cx="1554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64748B"/>
                </a:solidFill>
                <a:latin typeface="Microsoft YaHei"/>
              </a:defRPr>
            </a:pPr>
            <a:r>
              <a:t>Loss Analysis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5394960"/>
            <a:ext cx="15544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比較基準與壓力情境下</a:t>
            </a:r>
          </a:p>
          <a:p>
            <a:pPr algn="ctr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的資產價值差異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3680" y="1280160"/>
            <a:ext cx="50292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壓力測試 vs 傳統 VaR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83680" y="2103120"/>
            <a:ext cx="16459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56832" y="221284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</a:p>
        </p:txBody>
      </p:sp>
      <p:sp>
        <p:nvSpPr>
          <p:cNvPr id="26" name="Rectangle 25"/>
          <p:cNvSpPr/>
          <p:nvPr/>
        </p:nvSpPr>
        <p:spPr>
          <a:xfrm>
            <a:off x="8229600" y="2103120"/>
            <a:ext cx="16459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02752" y="221284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壓力測試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875520" y="2103120"/>
            <a:ext cx="1645920" cy="594360"/>
          </a:xfrm>
          <a:prstGeom prst="rect">
            <a:avLst/>
          </a:prstGeom>
          <a:solidFill>
            <a:srgbClr val="1E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48672" y="221284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  <a:latin typeface="Microsoft YaHei"/>
              </a:defRPr>
            </a:pPr>
            <a:r>
              <a:t>傳統 VaR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83680" y="2697480"/>
            <a:ext cx="1645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56832" y="280720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Microsoft YaHei"/>
              </a:defRPr>
            </a:pPr>
            <a:r>
              <a:t>假設基礎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229600" y="269748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80720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主動構建極端情境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875520" y="269748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948672" y="280720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依賴歷史機率分佈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83680" y="3291840"/>
            <a:ext cx="1645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56832" y="340156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Microsoft YaHei"/>
              </a:defRPr>
            </a:pPr>
            <a:r>
              <a:t>風險覆蓋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29600" y="3291840"/>
            <a:ext cx="16459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302752" y="340156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尾部風險 Tail Risk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875520" y="3291840"/>
            <a:ext cx="16459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948672" y="340156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正常市場條件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583680" y="3886200"/>
            <a:ext cx="1645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656832" y="399592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Microsoft YaHei"/>
              </a:defRPr>
            </a:pPr>
            <a:r>
              <a:t>結果特點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229600" y="388620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302752" y="399592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揭示小機率大影響事件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875520" y="3886200"/>
            <a:ext cx="1645920" cy="5943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948672" y="399592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給出統計置信區間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583680" y="4480560"/>
            <a:ext cx="1645920" cy="59436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656832" y="459028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A1A1A"/>
                </a:solidFill>
                <a:latin typeface="Microsoft YaHei"/>
              </a:defRPr>
            </a:pPr>
            <a:r>
              <a:t>適用場景</a:t>
            </a:r>
          </a:p>
        </p:txBody>
      </p:sp>
      <p:sp>
        <p:nvSpPr>
          <p:cNvPr id="50" name="Rectangle 49"/>
          <p:cNvSpPr/>
          <p:nvPr/>
        </p:nvSpPr>
        <p:spPr>
          <a:xfrm>
            <a:off x="8229600" y="4480560"/>
            <a:ext cx="16459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8302752" y="459028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合規審計、危機預案</a:t>
            </a:r>
          </a:p>
        </p:txBody>
      </p:sp>
      <p:sp>
        <p:nvSpPr>
          <p:cNvPr id="52" name="Rectangle 51"/>
          <p:cNvSpPr/>
          <p:nvPr/>
        </p:nvSpPr>
        <p:spPr>
          <a:xfrm>
            <a:off x="9875520" y="4480560"/>
            <a:ext cx="1645920" cy="59436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948672" y="4590288"/>
            <a:ext cx="1499616" cy="3749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64748B"/>
                </a:solidFill>
                <a:latin typeface="Microsoft YaHei"/>
              </a:defRPr>
            </a:pPr>
            <a:r>
              <a:t>日常風險監控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6583680" y="5120640"/>
            <a:ext cx="4937760" cy="1371600"/>
          </a:xfrm>
          <a:prstGeom prst="roundRect">
            <a:avLst/>
          </a:prstGeom>
          <a:solidFill>
            <a:srgbClr val="FFFBEB"/>
          </a:solidFill>
          <a:ln w="19050">
            <a:solidFill>
              <a:srgbClr val="C9A84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6858000" y="5257800"/>
            <a:ext cx="43891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300" b="1">
                <a:solidFill>
                  <a:srgbClr val="78600F"/>
                </a:solidFill>
                <a:latin typeface="Microsoft YaHei"/>
              </a:defRPr>
            </a:pPr>
            <a:r>
              <a:t>核心優勢</a:t>
            </a:r>
          </a:p>
          <a:p>
            <a:pPr algn="l">
              <a:spcAft>
                <a:spcPts val="0"/>
              </a:spcAft>
              <a:defRPr sz="1100" b="0">
                <a:solidFill>
                  <a:srgbClr val="78600F"/>
                </a:solidFill>
                <a:latin typeface="Microsoft YaHei"/>
              </a:defRPr>
            </a:pPr>
            <a:r>
              <a:t>可追溯性與可複製性，確保結果可以被審計師及監管機構驗證</a:t>
            </a:r>
          </a:p>
        </p:txBody>
      </p:sp>
      <p:sp>
        <p:nvSpPr>
          <p:cNvPr id="56" name="Rectangle 5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3.2 三層情境架構</a:t>
            </a:r>
          </a:p>
        </p:txBody>
      </p:sp>
      <p:pic>
        <p:nvPicPr>
          <p:cNvPr id="4" name="Picture 3" descr="scenario_framewor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6858000" cy="384048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7315200" y="1371600"/>
            <a:ext cx="45720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24344" y="1380744"/>
            <a:ext cx="54864" cy="1353312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0" y="146304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基準情境  Baseline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10B981"/>
                </a:solidFill>
                <a:latin typeface="Microsoft YaHei"/>
              </a:defRPr>
            </a:pPr>
            <a:r>
              <a:t>匯率變動：當前匯率±5%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對應情境：市場正常波動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應用場景：日常監控、季度報告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0" y="2926080"/>
            <a:ext cx="45720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24344" y="2935224"/>
            <a:ext cx="54864" cy="1353312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0" y="301752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中度情境  Moderate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C9A84C"/>
                </a:solidFill>
                <a:latin typeface="Microsoft YaHei"/>
              </a:defRPr>
            </a:pPr>
            <a:r>
              <a:t>匯率變動：±10%~±15%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對應情境：區域性經濟衝擊、貨幣政策調整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應用場景：年度風險評估、信託審計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0" y="4480560"/>
            <a:ext cx="4572000" cy="1371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324344" y="4489704"/>
            <a:ext cx="54864" cy="1353312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4572000"/>
            <a:ext cx="4114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  <a:defRPr sz="1400" b="1">
                <a:solidFill>
                  <a:srgbClr val="1A1A1A"/>
                </a:solidFill>
                <a:latin typeface="Microsoft YaHei"/>
              </a:defRPr>
            </a:pPr>
            <a:r>
              <a:t>極端情境  Severe</a:t>
            </a:r>
          </a:p>
          <a:p>
            <a:pPr algn="l">
              <a:spcAft>
                <a:spcPts val="200"/>
              </a:spcAft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匯率變動：±20%或以上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對應情境：金融危機、戰爭、主權危機</a:t>
            </a:r>
          </a:p>
          <a:p>
            <a:pPr algn="l">
              <a:spcAft>
                <a:spcPts val="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應用場景：壓力測試合規、韌性測試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5303520"/>
            <a:ext cx="11247120" cy="1280160"/>
          </a:xfrm>
          <a:prstGeom prst="roundRect">
            <a:avLst/>
          </a:prstGeom>
          <a:solidFill>
            <a:srgbClr val="EFF6FF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539496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  <a:defRPr sz="1400" b="1">
                <a:solidFill>
                  <a:srgbClr val="1E40AF"/>
                </a:solidFill>
                <a:latin typeface="Microsoft YaHei"/>
              </a:defRPr>
            </a:pPr>
            <a:r>
              <a:t>分層設計邏輯</a:t>
            </a:r>
          </a:p>
          <a:p>
            <a:pPr algn="l">
              <a:spcAft>
                <a:spcPts val="20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基準情境作為對照組，中度情境反映合理可能的市場變化，極端情境測試系統性風險承受能力。</a:t>
            </a:r>
          </a:p>
          <a:p>
            <a:pPr algn="l">
              <a:spcAft>
                <a:spcPts val="0"/>
              </a:spcAft>
              <a:defRPr sz="1200" b="0">
                <a:solidFill>
                  <a:srgbClr val="64748B"/>
                </a:solidFill>
                <a:latin typeface="Microsoft YaHei"/>
              </a:defRPr>
            </a:pPr>
            <a:r>
              <a:t>讓決策者不僅知道「最壞情況是什麼」，還能理解「不同嚴重程度下的影響分佈」，從而做出更精準的對沖決策。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3.3 歷史參照情境</a:t>
            </a:r>
          </a:p>
        </p:txBody>
      </p:sp>
      <p:pic>
        <p:nvPicPr>
          <p:cNvPr id="4" name="Picture 3" descr="historical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502920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章節四：測試方法與技術架構</a:t>
            </a:r>
          </a:p>
        </p:txBody>
      </p:sp>
      <p:pic>
        <p:nvPicPr>
          <p:cNvPr id="4" name="Picture 3" descr="model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11247120" cy="32004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4754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  <a:defRPr sz="1600" b="1">
                <a:solidFill>
                  <a:srgbClr val="1A1A1A"/>
                </a:solidFill>
                <a:latin typeface="Microsoft YaHei"/>
              </a:defRPr>
            </a:pPr>
            <a:r>
              <a:t>賦證機制（每步驟均有嚴格驗證）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303520"/>
            <a:ext cx="347472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57784" y="5312664"/>
            <a:ext cx="3456432" cy="457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E40AF"/>
                </a:solidFill>
                <a:latin typeface="Microsoft YaHei"/>
              </a:defRPr>
            </a:pPr>
            <a:r>
              <a:t>資料採集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54864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雙重輸入驗證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客戶確認 + 分析師復核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5303520"/>
            <a:ext cx="347472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98264" y="5312664"/>
            <a:ext cx="3456432" cy="45720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0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06B6D4"/>
                </a:solidFill>
                <a:latin typeface="Microsoft YaHei"/>
              </a:defRPr>
            </a:pPr>
            <a:r>
              <a:t>參數設定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760720" y="54864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合理性審查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參考歷史數據與監管指引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0" y="5303520"/>
            <a:ext cx="3474720" cy="1097280"/>
          </a:xfrm>
          <a:prstGeom prst="roundRect">
            <a:avLst/>
          </a:prstGeom>
          <a:solidFill>
            <a:srgbClr val="F8FAFC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38744" y="5312664"/>
            <a:ext cx="3456432" cy="4572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0" y="54406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10B981"/>
                </a:solidFill>
                <a:latin typeface="Microsoft YaHei"/>
              </a:defRPr>
            </a:pPr>
            <a:r>
              <a:t>報告產出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5486400"/>
            <a:ext cx="19202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內部賦證審核</a:t>
            </a:r>
          </a:p>
          <a:p>
            <a:pPr algn="l">
              <a:spcAft>
                <a:spcPts val="2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確保準確性和可信性</a:t>
            </a:r>
          </a:p>
        </p:txBody>
      </p:sp>
      <p:sp>
        <p:nvSpPr>
          <p:cNvPr id="18" name="Rectangle 17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4.2 資產覆蓋範圍 — 六大類別</a:t>
            </a:r>
          </a:p>
        </p:txBody>
      </p:sp>
      <p:pic>
        <p:nvPicPr>
          <p:cNvPr id="4" name="Picture 3" descr="asse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188720"/>
            <a:ext cx="5943600" cy="5303520"/>
          </a:xfrm>
          <a:prstGeom prst="rect">
            <a:avLst/>
          </a:prstGeom>
        </p:spPr>
      </p:pic>
      <p:sp>
        <p:nvSpPr>
          <p:cNvPr id="5" name="Rounded Rectangle 4"/>
          <p:cNvSpPr/>
          <p:nvPr/>
        </p:nvSpPr>
        <p:spPr>
          <a:xfrm>
            <a:off x="6400800" y="1280160"/>
            <a:ext cx="265176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9944" y="1289304"/>
            <a:ext cx="263347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3898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現金與存款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7960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多幣別銀行存款、定期存款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現金等價值物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796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E40AF"/>
                </a:solidFill>
                <a:latin typeface="Microsoft YaHei"/>
              </a:defRPr>
            </a:pPr>
            <a:r>
              <a:t>匯率風險暴露直接且立即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35440" y="1280160"/>
            <a:ext cx="265176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244584" y="1289304"/>
            <a:ext cx="2633472" cy="36576"/>
          </a:xfrm>
          <a:prstGeom prst="rect">
            <a:avLst/>
          </a:prstGeom>
          <a:solidFill>
            <a:srgbClr val="06B6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372600" y="138988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定息證券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72600" y="169164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政府債券、公司債券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可轉換債券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72600" y="246888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06B6D4"/>
                </a:solidFill>
                <a:latin typeface="Microsoft YaHei"/>
              </a:defRPr>
            </a:pPr>
            <a:r>
              <a:t>受匯率與利率雙重影響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0" y="3063240"/>
            <a:ext cx="265176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9944" y="3072384"/>
            <a:ext cx="2633472" cy="36576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37960" y="3172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股權類投資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3796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境內外股票、ETF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私募基金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3796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C9A84C"/>
                </a:solidFill>
                <a:latin typeface="Microsoft YaHei"/>
              </a:defRPr>
            </a:pPr>
            <a:r>
              <a:t>透過本幣計價傳導匯率影響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235440" y="3063240"/>
            <a:ext cx="265176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9244584" y="3072384"/>
            <a:ext cx="2633472" cy="36576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72600" y="317296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不動產/物業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72600" y="34747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海外物業、日本物業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425196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F59E0B"/>
                </a:solidFill>
                <a:latin typeface="Microsoft YaHei"/>
              </a:defRPr>
            </a:pPr>
            <a:r>
              <a:t>租金收入與資產價值均受影響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0" y="4846320"/>
            <a:ext cx="265176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6409944" y="4855464"/>
            <a:ext cx="2633472" cy="36576"/>
          </a:xfrm>
          <a:prstGeom prst="rect">
            <a:avLst/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37960" y="4956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外匯衍生產品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537960" y="5257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遠期合約、匯率期權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貨幣交換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537960" y="6035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EF4444"/>
                </a:solidFill>
                <a:latin typeface="Microsoft YaHei"/>
              </a:defRPr>
            </a:pPr>
            <a:r>
              <a:t>匯率敏感度最高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235440" y="4846320"/>
            <a:ext cx="2651760" cy="16002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9244584" y="4855464"/>
            <a:ext cx="2633472" cy="36576"/>
          </a:xfrm>
          <a:prstGeom prst="rect">
            <a:avLst/>
          </a:prstGeom>
          <a:solidFill>
            <a:srgbClr val="14B8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372600" y="4956048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1A1A1A"/>
                </a:solidFill>
                <a:latin typeface="Microsoft YaHei"/>
              </a:defRPr>
            </a:pPr>
            <a:r>
              <a:t>跨境應收應付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372600" y="52578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多幣別應收/應付帳款</a:t>
            </a:r>
          </a:p>
          <a:p>
            <a:pPr algn="l">
              <a:spcAft>
                <a:spcPts val="100"/>
              </a:spcAft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跨境分公司往來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372600" y="603504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14B8A6"/>
                </a:solidFill>
                <a:latin typeface="Microsoft YaHei"/>
              </a:defRPr>
            </a:pPr>
            <a:r>
              <a:t>取決於幣種錯配程度</a:t>
            </a:r>
          </a:p>
        </p:txBody>
      </p:sp>
      <p:sp>
        <p:nvSpPr>
          <p:cNvPr id="35" name="Rectangle 3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4.3 技術實現方式 — 雙軌方法</a:t>
            </a:r>
          </a:p>
        </p:txBody>
      </p:sp>
      <p:pic>
        <p:nvPicPr>
          <p:cNvPr id="4" name="Picture 3" descr="dual_approac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188720"/>
            <a:ext cx="11612880" cy="41148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48640" y="54864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  <a:defRPr sz="1500" b="1">
                <a:solidFill>
                  <a:srgbClr val="1A1A1A"/>
                </a:solidFill>
                <a:latin typeface="Microsoft YaHei"/>
              </a:defRPr>
            </a:pPr>
            <a:r>
              <a:t>精細計價模型（按資產類型）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5852160"/>
            <a:ext cx="34747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5897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E40AF"/>
                </a:solidFill>
                <a:latin typeface="Microsoft YaHei"/>
              </a:defRPr>
            </a:pPr>
            <a:r>
              <a:t>匯率衍生產品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6172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Black-Scholes / Garman-Kohlhagen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5852160"/>
            <a:ext cx="34747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26280" y="5897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59E0B"/>
                </a:solidFill>
                <a:latin typeface="Microsoft YaHei"/>
              </a:defRPr>
            </a:pPr>
            <a:r>
              <a:t>不動產投資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6172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租金匯率轉換 + 資本化率變動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5852160"/>
            <a:ext cx="3474720" cy="73152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589788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EF4444"/>
                </a:solidFill>
                <a:latin typeface="Microsoft YaHei"/>
              </a:defRPr>
            </a:pPr>
            <a:r>
              <a:t>跨境應收應付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6172200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結算時間差異的匯率風險缺口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803136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0584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000"/>
              </a:spcAft>
              <a:defRPr sz="1800" b="1">
                <a:solidFill>
                  <a:srgbClr val="C9A84C"/>
                </a:solidFill>
                <a:latin typeface="Microsoft YaHei"/>
              </a:defRPr>
            </a:pPr>
            <a:r>
              <a:t>PZC Group</a:t>
            </a:r>
          </a:p>
          <a:p>
            <a:pPr algn="ctr">
              <a:spcAft>
                <a:spcPts val="1000"/>
              </a:spcAft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FX Stress Test Report</a:t>
            </a:r>
          </a:p>
          <a:p>
            <a:pPr algn="ctr">
              <a:spcAft>
                <a:spcPts val="2000"/>
              </a:spcAft>
              <a:defRPr sz="2000" b="0">
                <a:solidFill>
                  <a:srgbClr val="CBD5E1"/>
                </a:solidFill>
                <a:latin typeface="Microsoft YaHei"/>
              </a:defRPr>
            </a:pPr>
            <a:r>
              <a:t>壓力測試方法論架構  &amp;  技術架構</a:t>
            </a:r>
          </a:p>
          <a:p>
            <a:pPr algn="ctr">
              <a:spcAft>
                <a:spcPts val="600"/>
              </a:spcAft>
              <a:defRPr sz="1400" b="0">
                <a:solidFill>
                  <a:srgbClr val="64748B"/>
                </a:solidFill>
                <a:latin typeface="Microsoft YaHei"/>
              </a:defRPr>
            </a:pPr>
            <a:r>
              <a:t>如需了解更多詳情，歡迎聯繫我們</a:t>
            </a:r>
          </a:p>
          <a:p>
            <a:pPr algn="ctr">
              <a:spcAft>
                <a:spcPts val="0"/>
              </a:spcAft>
              <a:defRPr sz="1200" b="0">
                <a:solidFill>
                  <a:srgbClr val="94A3B8"/>
                </a:solidFill>
                <a:latin typeface="Microsoft YaHei"/>
              </a:defRPr>
            </a:pPr>
            <a:r>
              <a:t>（請在此處填入聯繫方式）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400800"/>
            <a:ext cx="12191695" cy="54864"/>
          </a:xfrm>
          <a:prstGeom prst="rect">
            <a:avLst/>
          </a:prstGeom>
          <a:solidFill>
            <a:srgbClr val="C9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64922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4748B"/>
                </a:solidFill>
                <a:latin typeface="Microsoft YaHei"/>
              </a:defRPr>
            </a:pPr>
            <a:r>
              <a:t>百盛大通  |  MCLUB FX Risk Modeling Service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