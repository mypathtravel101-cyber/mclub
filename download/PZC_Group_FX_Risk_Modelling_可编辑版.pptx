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C9A84C"/>
                </a:solidFill>
                <a:latin typeface="Calibri"/>
              </a:defRPr>
            </a:pPr>
            <a:r>
              <a:t>PZC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FX Risk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外匯風險建模服務簡介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全面外匯風險管理解決方案  |  服務家族客戶外匯資產保值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百盛大通  |  专业外汇风险管理服务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四大核心服務概覽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FX Risk Modelling — 四項專業外匯風險管理服務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384048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40"/>
              </a:spcAft>
              <a:defRPr sz="16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壓力測試</a:t>
            </a:r>
          </a:p>
          <a:p>
            <a:pPr algn="ctr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Stress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286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模擬極端市場情況，</a:t>
            </a:r>
          </a:p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測試外匯資產組合損失風險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384048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1945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40"/>
              </a:spcAft>
              <a:defRPr sz="16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多幣種儀表板</a:t>
            </a:r>
          </a:p>
          <a:p>
            <a:pPr algn="ctr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Multi-Currency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931920"/>
            <a:ext cx="2286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實時多幣種分析平台，</a:t>
            </a:r>
          </a:p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一站式監控全球匯率走勢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651760" cy="384048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21945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40"/>
              </a:spcAft>
              <a:defRPr sz="16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對沖策略</a:t>
            </a:r>
          </a:p>
          <a:p>
            <a:pPr algn="ctr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Hedging Strategies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2286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個性化對沖方案，</a:t>
            </a:r>
          </a:p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最大限度降低匯率波動侵蝕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011680"/>
            <a:ext cx="2651760" cy="384048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21945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24028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40"/>
              </a:spcAft>
              <a:defRPr sz="16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風險估值</a:t>
            </a:r>
          </a:p>
          <a:p>
            <a:pPr algn="ctr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Value at Risk (VaR)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931920"/>
            <a:ext cx="2286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統計模型量化風險，</a:t>
            </a:r>
          </a:p>
          <a:p>
            <a:pPr algn="ctr">
              <a:spcAft>
                <a:spcPts val="520"/>
              </a:spcAft>
              <a:defRPr sz="1300">
                <a:solidFill>
                  <a:srgbClr val="666666"/>
                </a:solidFill>
                <a:latin typeface="Microsoft YaHei"/>
              </a:defRPr>
              <a:lnSpc>
                <a:spcPct val="150000"/>
              </a:lnSpc>
            </a:pPr>
            <a:r>
              <a:t>提供簡潔明瞭的風險指標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服務一：壓力測試 Stress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模擬極端市場情況（如幣值急跌 10%-20%、利率劇變、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地緣政治事件），測試客戶的外匯資產組合在各種情境下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的損失風險。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幫助客戶提前知悉最壞情況下的潛在影響，並制定應對方案。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服務對象：有大量外匯負債的家族客戶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交付成果：壓力測試報告（包含情境分析、損失估算、建議）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560320"/>
            <a:ext cx="2011680" cy="10972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697480"/>
            <a:ext cx="1828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定義壓力情境</a:t>
            </a:r>
          </a:p>
          <a:p>
            <a:pPr algn="ctr"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(極端市場事件)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686800" y="28803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0" y="2560320"/>
            <a:ext cx="2011680" cy="10972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697480"/>
            <a:ext cx="1828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模擬損失計算</a:t>
            </a:r>
          </a:p>
          <a:p>
            <a:pPr algn="ctr"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(資產組合影響)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064240" y="28803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338560" y="2560320"/>
            <a:ext cx="2011680" cy="10972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2697480"/>
            <a:ext cx="1828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20"/>
              </a:spcAft>
              <a:defRPr sz="13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制定應對方案</a:t>
            </a:r>
          </a:p>
          <a:p>
            <a:pPr algn="ctr"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(報告與建議)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服務二：多幣種儀表板 Multi-Currency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實時多幣種分析平台，整合威利指定價、幣值走勢、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外匯敞口數據。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客戶可一網盯控全球幣種走勢和自己的外匯風險敏感度，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即時追蹤幣值波動對負債的實際影響。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服務對象：會經常要進行多幣種交易的客戶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交付成果：實時儀表板（幣值走勢、敞口分析、風險指標）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Dashboard 示意圖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3749040"/>
            <a:ext cx="548640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507492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USD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4023360"/>
            <a:ext cx="548640" cy="1005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507492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206240"/>
            <a:ext cx="548640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507492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840480"/>
            <a:ext cx="548640" cy="1188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507492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JPY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3566160"/>
            <a:ext cx="548640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507492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CNY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服務三：對沖策略 Hedging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根據客戶的外匯敞口和風險實際度，設計個性化的對沖方案。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包括遠期合約、期權策略、天然對沖等多種工具組合，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最大限度降低匯率波動對家族資產的侵蝕。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服務對象：希望主動管理匯率風險的客戶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交付成果：對沖方案建議書（包含成本效益分析）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560320"/>
            <a:ext cx="118872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265176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1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遠期合約</a:t>
            </a:r>
          </a:p>
          <a:p>
            <a:pPr algn="ctr"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560320"/>
            <a:ext cx="118872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65176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1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期權策略</a:t>
            </a:r>
          </a:p>
          <a:p>
            <a:pPr algn="ctr"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Options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560320"/>
            <a:ext cx="118872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65176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1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天然對沖</a:t>
            </a:r>
          </a:p>
          <a:p>
            <a:pPr algn="ctr"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Natural Hedge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0" y="2560320"/>
            <a:ext cx="118872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65176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1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互換合約</a:t>
            </a:r>
          </a:p>
          <a:p>
            <a:pPr algn="ctr"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  <a:lnSpc>
                <a:spcPct val="120000"/>
              </a:lnSpc>
            </a:pPr>
            <a:r>
              <a:t>Swaps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3840480"/>
            <a:ext cx="914400" cy="54864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869680" y="3840480"/>
            <a:ext cx="548640" cy="548640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4572000"/>
            <a:ext cx="4572000" cy="9144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709160"/>
            <a:ext cx="4206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組合運用 → 最小化匯率風險，最大化資產保護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服務四：風險估值 Value at Risk (VaR)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利用統計模型計算客戶外匯組合在特定置信水平下的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最大預期損失。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例如「95% VaR 為 HK$500萬」意味在正常市場條件下，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有 95% 機會單日損失不會超過 HK$500萬。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服務對象：需要定期報告外匯風險敞口的客戶</a:t>
            </a: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l">
              <a:spcAft>
                <a:spcPts val="640"/>
              </a:spcAft>
              <a:defRPr sz="1600">
                <a:solidFill>
                  <a:srgbClr val="1A1A1A"/>
                </a:solidFill>
                <a:latin typeface="Microsoft YaHei"/>
              </a:defRPr>
              <a:lnSpc>
                <a:spcPct val="160000"/>
              </a:lnSpc>
            </a:pPr>
            <a:r>
              <a:t>交付成果：VaR 報告（包含置信度、風險值、走勢圖）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VaR 概念示意圖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5029200"/>
            <a:ext cx="4114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200400"/>
            <a:ext cx="3200400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383280"/>
            <a:ext cx="2286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95% 置信區間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VaR = HK$500萬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1206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-2σ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1206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均值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1206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+2σ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服務對比總覽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四大核心服務一覽表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2743200"/>
                <a:gridCol w="338328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服務項目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服務對象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交付成果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壓力測試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模擬極端市場情況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測試損失風險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有大量外匯負債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的家族客戶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壓力測試報告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(情境分析/損失估算/建議)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多幣種儀表板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實時多幣種分析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一網監控匯率走勢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經常進行多幣種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交易的客戶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實時儀表板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(走勢/敞口/風險指標)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對沖策略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Hedging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個性化對沖方案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多工具組合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希望主動管理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匯率風險的客戶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對沖方案建議書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(成本效益分析)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風險估值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VaR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統計模型量化風險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簡潔風險指標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需定期報告外匯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風險敞口的客戶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VaR 報告</a:t>
                      </a:r>
                    </a:p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(置信度/風險值/走勢圖)</a:t>
                      </a:r>
                    </a:p>
                  </a:txBody>
                  <a:tcPr>
                    <a:solidFill>
                      <a:srgbClr val="F5F2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服務流程圖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PZC Group FX Risk Modelling 工作流程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20116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828800" cy="128016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初步評估</a:t>
            </a:r>
          </a:p>
          <a:p>
            <a:pPr algn="ctr"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風險敞口分析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40" y="31089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20116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743200"/>
            <a:ext cx="1828800" cy="128016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88036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定制方案</a:t>
            </a:r>
          </a:p>
          <a:p>
            <a:pPr algn="ctr"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選擇合適服務組合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63440" y="31089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0116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1828800" cy="128016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模型建設</a:t>
            </a:r>
          </a:p>
          <a:p>
            <a:pPr algn="ctr"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數據整合與計算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49440" y="31089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09560" y="20116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743200"/>
            <a:ext cx="1828800" cy="128016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88036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報告交付</a:t>
            </a:r>
          </a:p>
          <a:p>
            <a:pPr algn="ctr"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專業分析報告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35440" y="3108960"/>
            <a:ext cx="320040" cy="457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5560" y="201168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743200"/>
            <a:ext cx="1828800" cy="128016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88036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 b="1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持續跟進</a:t>
            </a:r>
          </a:p>
          <a:p>
            <a:pPr algn="ctr"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  <a:lnSpc>
                <a:spcPct val="130000"/>
              </a:lnSpc>
            </a:pPr>
            <a:r>
              <a:t>定期更新與調整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1A"/>
                </a:solidFill>
                <a:latin typeface="SimHei"/>
              </a:defRPr>
            </a:pPr>
            <a:r>
              <a:t>為什麼選擇 PZC Group？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FX Risk Modelling 核心優勢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468880" cy="27432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4688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專業團隊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擁有資深外匯分析師團隊，</a:t>
            </a:r>
          </a:p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具備豐富市場經驗與專業知識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468880" cy="27432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011680"/>
            <a:ext cx="24688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8600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定制服務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08960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根據每位客戶的獨特需求，</a:t>
            </a:r>
          </a:p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量身打造風險管理方案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2468880" cy="27432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24688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科技驅動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08960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先進的數據分析平台，</a:t>
            </a:r>
          </a:p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精準計算與即時監控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011680"/>
            <a:ext cx="2468880" cy="2743200"/>
          </a:xfrm>
          <a:prstGeom prst="round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011680"/>
            <a:ext cx="24688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全面覆蓋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四大服務全方位覆蓋外匯</a:t>
            </a:r>
          </a:p>
          <a:p>
            <a:pPr algn="ctr">
              <a:spcAft>
                <a:spcPts val="560"/>
              </a:spcAft>
              <a:defRPr sz="1400">
                <a:solidFill>
                  <a:srgbClr val="666666"/>
                </a:solidFill>
                <a:latin typeface="Microsoft YaHei"/>
              </a:defRPr>
              <a:lnSpc>
                <a:spcPct val="160000"/>
              </a:lnSpc>
            </a:pPr>
            <a:r>
              <a:t>風險管理的各個關鍵環節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C9A84C"/>
                </a:solidFill>
                <a:latin typeface="Calibri"/>
              </a:defRPr>
            </a:pPr>
            <a:r>
              <a:t>PZC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FX Risk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外匯風險建模服務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23360"/>
            <a:ext cx="7315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40"/>
              </a:spcAft>
              <a:defRPr sz="1600">
                <a:solidFill>
                  <a:srgbClr val="999999"/>
                </a:solidFill>
                <a:latin typeface="Microsoft YaHei"/>
              </a:defRPr>
              <a:lnSpc>
                <a:spcPct val="160000"/>
              </a:lnSpc>
            </a:pPr>
            <a:r>
              <a:t>如需了解更多詳情，歡迎聯繫我們</a:t>
            </a:r>
          </a:p>
          <a:p>
            <a:pPr algn="ctr">
              <a:spcAft>
                <a:spcPts val="640"/>
              </a:spcAft>
              <a:defRPr sz="1600">
                <a:solidFill>
                  <a:srgbClr val="999999"/>
                </a:solidFill>
                <a:latin typeface="Microsoft YaHei"/>
              </a:defRPr>
              <a:lnSpc>
                <a:spcPct val="160000"/>
              </a:lnSpc>
            </a:pPr>
          </a:p>
          <a:p>
            <a:pPr algn="ctr">
              <a:spcAft>
                <a:spcPts val="640"/>
              </a:spcAft>
              <a:defRPr sz="1600">
                <a:solidFill>
                  <a:srgbClr val="999999"/>
                </a:solidFill>
                <a:latin typeface="Microsoft YaHei"/>
              </a:defRPr>
              <a:lnSpc>
                <a:spcPct val="160000"/>
              </a:lnSpc>
            </a:pPr>
            <a:r>
              <a:t>（請在此處填入聯繫方式）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百盛大通  |  专业外汇风险管理服务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