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Sarasa Mono SC"/>
              </a:defRPr>
            </a:pPr>
            <a:r>
              <a:t>MCLUB FX RISK MODELING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arasa Mono SC"/>
              </a:defRPr>
            </a:pPr>
            <a:r>
              <a:t>日本物業投資 — 專業風險分析報告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5A5A6"/>
                </a:solidFill>
                <a:latin typeface="Sarasa Mono SC"/>
              </a:defRPr>
            </a:pPr>
            <a:r>
              <a:t>JPY Property Investment — Professional Risk Analysis (10-Year Holding)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06240"/>
            <a:ext cx="4389120" cy="1920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25196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5F2E8"/>
                </a:solidFill>
                <a:latin typeface="Sarasa Mono SC"/>
              </a:defRPr>
            </a:pPr>
            <a:r>
              <a:t>投資結構</a:t>
            </a:r>
            <a:br/>
            <a:r>
              <a:t>────────────────────</a:t>
            </a:r>
            <a:br/>
            <a:r>
              <a:t>物業價值: HKD 4,000,000 (JPY 78M)</a:t>
            </a:r>
            <a:br/>
            <a:r>
              <a:t>按提: 40% LTV @ 3% p.a.</a:t>
            </a:r>
            <a:br/>
            <a:r>
              <a:t>按提期限: 15年 (45→60歲)</a:t>
            </a:r>
            <a:br/>
            <a:r>
              <a:t>持倉期: 10年 (45→55歲)</a:t>
            </a:r>
            <a:br/>
            <a:r>
              <a:t>客戶投入: HKD 2,400,000</a:t>
            </a:r>
            <a:br/>
            <a:r>
              <a:t>年租金款率: 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206240"/>
            <a:ext cx="4389120" cy="1920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25196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5F2E8"/>
                </a:solidFill>
                <a:latin typeface="Sarasa Mono SC"/>
              </a:defRPr>
            </a:pPr>
            <a:r>
              <a:t>關鍵指標 (10年持倉)</a:t>
            </a:r>
            <a:br/>
            <a:r>
              <a:t>────────────────────</a:t>
            </a:r>
            <a:br/>
            <a:r>
              <a:t>基準年化回報: 6.39%</a:t>
            </a:r>
            <a:br/>
            <a:r>
              <a:t>最差年化回報: 1.29%</a:t>
            </a:r>
            <a:br/>
            <a:r>
              <a:t>最佳年化回報: 13.47%</a:t>
            </a:r>
            <a:br/>
            <a:r>
              <a:t>虫本情景: 0 / 84 (0%)</a:t>
            </a:r>
            <a:br/>
            <a:r>
              <a:t>第10年按提餘額: JPY 11,990,939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JPY物業投資分析報告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投資結構與回報分解 (10年持倉)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291840" cy="5029200"/>
          </a:xfrm>
          <a:prstGeom prst="roundRect">
            <a:avLst/>
          </a:prstGeom>
          <a:solidFill>
            <a:srgbClr val="2C2E30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017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物業投資結構</a:t>
            </a:r>
            <a:br/>
            <a:br/>
            <a:r>
              <a:t>物業價值</a:t>
            </a:r>
            <a:br/>
            <a:r>
              <a:t>  HKD 4,000,000 (JPY 78,000,000)</a:t>
            </a:r>
            <a:br/>
            <a:br/>
            <a:r>
              <a:t>資金來源</a:t>
            </a:r>
            <a:br/>
            <a:r>
              <a:t>  首期: HKD 2,400,000 (60%)</a:t>
            </a:r>
            <a:br/>
            <a:r>
              <a:t>  貸款: JPY 31,200,000 (40%)</a:t>
            </a:r>
            <a:br/>
            <a:br/>
            <a:r>
              <a:t>貸款條款</a:t>
            </a:r>
            <a:br/>
            <a:r>
              <a:t>  利率: 3% p.a. (日圃)</a:t>
            </a:r>
            <a:br/>
            <a:r>
              <a:t>  期限: 15年</a:t>
            </a:r>
            <a:br/>
            <a:r>
              <a:t>  月供: JPY 215,461</a:t>
            </a:r>
            <a:br/>
            <a:br/>
            <a:r>
              <a:t>租金收入</a:t>
            </a:r>
            <a:br/>
            <a:r>
              <a:t>  年租: JPY 4,680,000 (6%)</a:t>
            </a:r>
            <a:br/>
            <a:r>
              <a:t>  年淨租: JPY 2,094,462</a:t>
            </a:r>
            <a:br/>
            <a:br/>
            <a:r>
              <a:t>第10年退出</a:t>
            </a:r>
            <a:br/>
            <a:r>
              <a:t>  按揑餘額: JPY 11,990,939</a:t>
            </a:r>
            <a:br/>
            <a:r>
              <a:t>  淨套现: JPY 66,009,061</a:t>
            </a:r>
          </a:p>
        </p:txBody>
      </p:sp>
      <p:pic>
        <p:nvPicPr>
          <p:cNvPr id="6" name="Picture 5" descr="return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914400"/>
            <a:ext cx="813816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JPY物業投資分析報告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10年持倉預測 — 按提攤還與現金流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rtgage_amor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772400" cy="5212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914400"/>
            <a:ext cx="3749039" cy="5212080"/>
          </a:xfrm>
          <a:prstGeom prst="roundRect">
            <a:avLst/>
          </a:prstGeom>
          <a:solidFill>
            <a:srgbClr val="2C2E30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960120"/>
            <a:ext cx="3474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關鍵財務指標</a:t>
            </a:r>
            <a:br/>
            <a:br/>
            <a:r>
              <a:t>按提攤還 (10年)</a:t>
            </a:r>
            <a:br/>
            <a:r>
              <a:t>─────────────</a:t>
            </a:r>
            <a:br/>
            <a:r>
              <a:t>已償本金: JPY 19,209,061</a:t>
            </a:r>
            <a:br/>
            <a:r>
              <a:t>已付利息: ~JPY 27,590,939</a:t>
            </a:r>
            <a:br/>
            <a:r>
              <a:t>剩餘餘額: JPY 11,990,939</a:t>
            </a:r>
            <a:br/>
            <a:r>
              <a:t>本金償還比例: 14.8%</a:t>
            </a:r>
            <a:br/>
            <a:br/>
            <a:r>
              <a:t>現金流 (10年)</a:t>
            </a:r>
            <a:br/>
            <a:r>
              <a:t>─────────────</a:t>
            </a:r>
            <a:br/>
            <a:r>
              <a:t>年淨租金收入:</a:t>
            </a:r>
            <a:br/>
            <a:r>
              <a:t>  HKD 107,408/年</a:t>
            </a:r>
            <a:br/>
            <a:r>
              <a:t>10年累計淨租:</a:t>
            </a:r>
            <a:br/>
            <a:r>
              <a:t>  HKD 1,074,083</a:t>
            </a:r>
            <a:br/>
            <a:br/>
            <a:r>
              <a:t>退出價值 (基準)</a:t>
            </a:r>
            <a:br/>
            <a:r>
              <a:t>─────────────</a:t>
            </a:r>
            <a:br/>
            <a:r>
              <a:t>淨套现 (HKD):</a:t>
            </a:r>
            <a:br/>
            <a:r>
              <a:t>  HKD 3,385,080</a:t>
            </a:r>
            <a:br/>
            <a:r>
              <a:t>總回報 (HKD):</a:t>
            </a:r>
            <a:br/>
            <a:r>
              <a:t>  HKD 4,459,163</a:t>
            </a:r>
            <a:br/>
            <a:r>
              <a:t>ROI: +85.8%  年化: 6.39%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JPY物業投資分析報告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arasa Mono SC"/>
              </a:defRPr>
            </a:pPr>
            <a:r>
              <a:t>雙變量壓力測試 — 84個情景年化回報矩陣 (10年持倉)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897880"/>
            <a:ext cx="3474720" cy="411480"/>
          </a:xfrm>
          <a:prstGeom prst="round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161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Sarasa Mono SC"/>
              </a:defRPr>
            </a:pPr>
            <a:r>
              <a:t>最差情景: 1.29% 年化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897880"/>
            <a:ext cx="3474720" cy="411480"/>
          </a:xfrm>
          <a:prstGeom prst="roundRect">
            <a:avLst/>
          </a:prstGeom>
          <a:solidFill>
            <a:srgbClr val="2C2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59161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arasa Mono SC"/>
              </a:defRPr>
            </a:pPr>
            <a:r>
              <a:t>虫本情景: 0/84 (0%)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897880"/>
            <a:ext cx="3566160" cy="411480"/>
          </a:xfrm>
          <a:prstGeom prst="round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9161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A84C"/>
                </a:solidFill>
                <a:latin typeface="Sarasa Mono SC"/>
              </a:defRPr>
            </a:pPr>
            <a:r>
              <a:t>基準情景: 6.39% 年化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JPY物業投資分析報告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風險地圖與敏感度分析 (10年持倉)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6126480" cy="5120640"/>
          </a:xfrm>
          <a:prstGeom prst="rect">
            <a:avLst/>
          </a:prstGeom>
        </p:spPr>
      </p:pic>
      <p:pic>
        <p:nvPicPr>
          <p:cNvPr id="5" name="Picture 4" descr="stress_2var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914400"/>
            <a:ext cx="56692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JPY物業投資分析報告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壓力測試結論與風險評估 (10年持倉)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3A5F"/>
                </a:solidFill>
                <a:latin typeface="Sarasa Mono SC"/>
              </a:defRPr>
            </a:pPr>
            <a:r>
              <a:t>測試範圍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12個匯率情景 x 7個房價情景 = 84個壓力測試情景</a:t>
            </a:r>
            <a:br/>
            <a:r>
              <a:t>覆蓋MCLUB三層架構（T1/T2/T3）+ 2022歷史參照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92808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ECC71"/>
                </a:solidFill>
                <a:latin typeface="Sarasa Mono SC"/>
              </a:defRPr>
            </a:pPr>
            <a:r>
              <a:t>零虫本概率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全部84個情景均錄得正回報，最差年化仍達1.29%</a:t>
            </a:r>
            <a:br/>
            <a:r>
              <a:t>即使房價崩盤30% + 日圃貶值31%同時發生，投資仍可保本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34056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79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C9A84C"/>
                </a:solidFill>
                <a:latin typeface="Sarasa Mono SC"/>
              </a:defRPr>
            </a:pPr>
            <a:r>
              <a:t>基準情景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房價持平 + 現匯率 = 年化6.39%（純租金+本金償還）</a:t>
            </a:r>
            <a:br/>
            <a:r>
              <a:t>若房價年增3% + 現匯率 = 年化約8.5%+（含資本增值）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75304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E3A5F"/>
                </a:solidFill>
                <a:latin typeface="Sarasa Mono SC"/>
              </a:defRPr>
            </a:pPr>
            <a:r>
              <a:t>自然對沖效應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日圃按提+日圃租金形成幣種匹配對沖</a:t>
            </a:r>
            <a:br/>
            <a:r>
              <a:t>匯率風險僅影響淨租金及淨套现價值，非全部物業價值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3498DB"/>
                </a:solidFill>
                <a:latin typeface="Sarasa Mono SC"/>
              </a:defRPr>
            </a:pPr>
            <a:r>
              <a:t>槓端安全邊際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40% LTV提供充足緩衝，物業需貶值超60%才觸及貸款安全線</a:t>
            </a:r>
            <a:br/>
            <a:r>
              <a:t>按提本金償還持續降低貸款餘額，10年內已償還61.6%本金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57800"/>
            <a:ext cx="6858000" cy="804672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E74C3C"/>
                </a:solidFill>
                <a:latin typeface="Sarasa Mono SC"/>
              </a:defRPr>
            </a:pPr>
            <a:r>
              <a:t>雙重風險最差情景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50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F2E8"/>
                </a:solidFill>
                <a:latin typeface="Sarasa Mono SC"/>
              </a:defRPr>
            </a:pPr>
            <a:r>
              <a:t>房價-30% + JPY貶31%（2022危機）</a:t>
            </a:r>
            <a:br/>
            <a:r>
              <a:t>年化1.29%，10年總ROI +3.6%，仍能保本并獲得正回報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051560"/>
            <a:ext cx="4114800" cy="50292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9A84C"/>
                </a:solidFill>
                <a:latin typeface="Sarasa Mono SC"/>
              </a:defRPr>
            </a:pPr>
            <a:r>
              <a:t>風險評級總結 (10年)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600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整體風險等級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8562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LOW-MODERATE</a:t>
            </a:r>
            <a:br/>
            <a:r>
              <a:t>中等偏低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500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FX風險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06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2E0AA"/>
                </a:solidFill>
                <a:latin typeface="Sarasa Mono SC"/>
              </a:defRPr>
            </a:pPr>
            <a:r>
              <a:t>MITIGATED</a:t>
            </a:r>
            <a:br/>
            <a:r>
              <a:t>已被自然對沖緩解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998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房價風險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558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LOW-MODERATE</a:t>
            </a:r>
            <a:br/>
            <a:r>
              <a:t>10年持有分散風險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8496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利率風險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0565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LOW</a:t>
            </a:r>
            <a:br/>
            <a:r>
              <a:t>日本3%處歷史低位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994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流動性風險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55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arasa Mono SC"/>
              </a:defRPr>
            </a:pPr>
            <a:r>
              <a:t>MODERATE</a:t>
            </a:r>
            <a:br/>
            <a:r>
              <a:t>日本物業流動性偏低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349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建議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6052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Sarasa Mono SC"/>
              </a:defRPr>
            </a:pPr>
            <a:r>
              <a:t>適用MCLUB進階版</a:t>
            </a:r>
            <a:br/>
            <a:r>
              <a:t>(Advanced)服務層級</a:t>
            </a:r>
            <a:br/>
            <a:r>
              <a:t>HK$128,000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JPY物業投資分析報告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