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731520"/>
          </a:xfrm>
          <a:prstGeom prst="rect">
            <a:avLst/>
          </a:prstGeom>
          <a:noFill/>
        </p:spPr>
        <p:txBody>
          <a:bodyPr wrap="square">
            <a:spAutoFit/>
          </a:bodyPr>
          <a:lstStyle/>
          <a:p>
            <a:pPr algn="l">
              <a:defRPr sz="1800" b="1">
                <a:solidFill>
                  <a:srgbClr val="C9A84C"/>
                </a:solidFill>
                <a:latin typeface="Microsoft YaHei"/>
              </a:defRPr>
            </a:pPr>
            <a:r>
              <a:t>PZC Group</a:t>
            </a:r>
          </a:p>
        </p:txBody>
      </p:sp>
      <p:sp>
        <p:nvSpPr>
          <p:cNvPr id="4" name="TextBox 3"/>
          <p:cNvSpPr txBox="1"/>
          <p:nvPr/>
        </p:nvSpPr>
        <p:spPr>
          <a:xfrm>
            <a:off x="914400" y="2103120"/>
            <a:ext cx="10058400" cy="2286000"/>
          </a:xfrm>
          <a:prstGeom prst="rect">
            <a:avLst/>
          </a:prstGeom>
          <a:noFill/>
        </p:spPr>
        <p:txBody>
          <a:bodyPr wrap="square">
            <a:spAutoFit/>
          </a:bodyPr>
          <a:lstStyle/>
          <a:p>
            <a:pPr algn="l">
              <a:spcAft>
                <a:spcPts val="600"/>
              </a:spcAft>
              <a:defRPr sz="4000" b="1">
                <a:solidFill>
                  <a:srgbClr val="FFFFFF"/>
                </a:solidFill>
                <a:latin typeface="Microsoft YaHei"/>
              </a:defRPr>
            </a:pPr>
            <a:r>
              <a:t>FX Risk Modelling</a:t>
            </a:r>
          </a:p>
          <a:p>
            <a:pPr algn="l">
              <a:spcAft>
                <a:spcPts val="1600"/>
              </a:spcAft>
              <a:defRPr sz="2000" b="0">
                <a:solidFill>
                  <a:srgbClr val="CBD5E1"/>
                </a:solidFill>
                <a:latin typeface="Microsoft YaHei"/>
              </a:defRPr>
            </a:pPr>
            <a:r>
              <a:t>服務三：對沖策略  |  服務四：風險估值 VaR</a:t>
            </a:r>
          </a:p>
          <a:p>
            <a:pPr algn="l">
              <a:spcAft>
                <a:spcPts val="0"/>
              </a:spcAft>
              <a:defRPr sz="1600" b="0">
                <a:solidFill>
                  <a:srgbClr val="64748B"/>
                </a:solidFill>
                <a:latin typeface="Microsoft YaHei"/>
              </a:defRPr>
            </a:pPr>
            <a:r>
              <a:t>Hedging Strategies  &amp;  Value at Risk</a:t>
            </a:r>
          </a:p>
        </p:txBody>
      </p:sp>
      <p:sp>
        <p:nvSpPr>
          <p:cNvPr id="5" name="Rectangle 4"/>
          <p:cNvSpPr/>
          <p:nvPr/>
        </p:nvSpPr>
        <p:spPr>
          <a:xfrm>
            <a:off x="0" y="6400800"/>
            <a:ext cx="12191695"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669280"/>
            <a:ext cx="10058400" cy="457200"/>
          </a:xfrm>
          <a:prstGeom prst="rect">
            <a:avLst/>
          </a:prstGeom>
          <a:noFill/>
        </p:spPr>
        <p:txBody>
          <a:bodyPr wrap="square">
            <a:spAutoFit/>
          </a:bodyPr>
          <a:lstStyle/>
          <a:p>
            <a:pPr algn="l">
              <a:defRPr sz="1100" b="0">
                <a:solidFill>
                  <a:srgbClr val="64748B"/>
                </a:solidFill>
                <a:latin typeface="Microsoft YaHei"/>
              </a:defRPr>
            </a:pPr>
            <a:r>
              <a:t>百盛大通  |  专业外汇风险管理服务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600" b="1">
                <a:solidFill>
                  <a:srgbClr val="FFFFFF"/>
                </a:solidFill>
                <a:latin typeface="Microsoft YaHei"/>
              </a:defRPr>
            </a:pPr>
            <a:r>
              <a:t>服務三：對沖策略 Hedging Strategies</a:t>
            </a:r>
          </a:p>
        </p:txBody>
      </p:sp>
      <p:sp>
        <p:nvSpPr>
          <p:cNvPr id="4" name="TextBox 3"/>
          <p:cNvSpPr txBox="1"/>
          <p:nvPr/>
        </p:nvSpPr>
        <p:spPr>
          <a:xfrm>
            <a:off x="548640" y="1280160"/>
            <a:ext cx="5486400" cy="2286000"/>
          </a:xfrm>
          <a:prstGeom prst="rect">
            <a:avLst/>
          </a:prstGeom>
          <a:noFill/>
        </p:spPr>
        <p:txBody>
          <a:bodyPr wrap="square">
            <a:spAutoFit/>
          </a:bodyPr>
          <a:lstStyle/>
          <a:p>
            <a:pPr algn="l">
              <a:spcAft>
                <a:spcPts val="800"/>
              </a:spcAft>
              <a:defRPr sz="1300" b="0">
                <a:solidFill>
                  <a:srgbClr val="64748B"/>
                </a:solidFill>
                <a:latin typeface="Microsoft YaHei"/>
              </a:defRPr>
            </a:pPr>
            <a:r>
              <a:t>根據客戶的外匯敞口和風險承受度，設計個性化的對沖方案。</a:t>
            </a:r>
          </a:p>
          <a:p>
            <a:pPr algn="l">
              <a:spcAft>
                <a:spcPts val="0"/>
              </a:spcAft>
              <a:defRPr sz="1300" b="0">
                <a:solidFill>
                  <a:srgbClr val="64748B"/>
                </a:solidFill>
                <a:latin typeface="Microsoft YaHei"/>
              </a:defRPr>
            </a:pPr>
            <a:r>
              <a:t>包括遠期合約、期權策略、天然對沖、互換合約等多種工具組合，</a:t>
            </a:r>
          </a:p>
          <a:p>
            <a:pPr algn="l">
              <a:spcAft>
                <a:spcPts val="1600"/>
              </a:spcAft>
              <a:defRPr sz="1300" b="0">
                <a:solidFill>
                  <a:srgbClr val="64748B"/>
                </a:solidFill>
                <a:latin typeface="Microsoft YaHei"/>
              </a:defRPr>
            </a:pPr>
            <a:r>
              <a:t>最大限度降低匯率波動對家族資產的侵蝕。</a:t>
            </a:r>
          </a:p>
          <a:p>
            <a:pPr algn="l">
              <a:spcAft>
                <a:spcPts val="400"/>
              </a:spcAft>
              <a:defRPr sz="1200" b="0">
                <a:solidFill>
                  <a:srgbClr val="1E3A5F"/>
                </a:solidFill>
                <a:latin typeface="Microsoft YaHei"/>
              </a:defRPr>
            </a:pPr>
            <a:r>
              <a:t>服務對象：希望主動管理匯率風險的客戶</a:t>
            </a:r>
          </a:p>
          <a:p>
            <a:pPr algn="l">
              <a:spcAft>
                <a:spcPts val="0"/>
              </a:spcAft>
              <a:defRPr sz="1200" b="0">
                <a:solidFill>
                  <a:srgbClr val="1E3A5F"/>
                </a:solidFill>
                <a:latin typeface="Microsoft YaHei"/>
              </a:defRPr>
            </a:pPr>
            <a:r>
              <a:t>交付成果：對沖方案建議書（包含成本效益分析）</a:t>
            </a:r>
          </a:p>
        </p:txBody>
      </p:sp>
      <p:sp>
        <p:nvSpPr>
          <p:cNvPr id="5" name="Rounded Rectangle 4"/>
          <p:cNvSpPr/>
          <p:nvPr/>
        </p:nvSpPr>
        <p:spPr>
          <a:xfrm>
            <a:off x="548640" y="3840480"/>
            <a:ext cx="2651760" cy="2560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7784" y="3849624"/>
            <a:ext cx="2633472" cy="45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023360"/>
            <a:ext cx="2286000" cy="365760"/>
          </a:xfrm>
          <a:prstGeom prst="rect">
            <a:avLst/>
          </a:prstGeom>
          <a:noFill/>
        </p:spPr>
        <p:txBody>
          <a:bodyPr wrap="square">
            <a:spAutoFit/>
          </a:bodyPr>
          <a:lstStyle/>
          <a:p>
            <a:pPr algn="l">
              <a:defRPr sz="1500" b="1">
                <a:solidFill>
                  <a:srgbClr val="1A1A1A"/>
                </a:solidFill>
                <a:latin typeface="Microsoft YaHei"/>
              </a:defRPr>
            </a:pPr>
            <a:r>
              <a:t>遠期合約</a:t>
            </a:r>
          </a:p>
        </p:txBody>
      </p:sp>
      <p:sp>
        <p:nvSpPr>
          <p:cNvPr id="8" name="TextBox 7"/>
          <p:cNvSpPr txBox="1"/>
          <p:nvPr/>
        </p:nvSpPr>
        <p:spPr>
          <a:xfrm>
            <a:off x="731520" y="4343400"/>
            <a:ext cx="2286000" cy="274320"/>
          </a:xfrm>
          <a:prstGeom prst="rect">
            <a:avLst/>
          </a:prstGeom>
          <a:noFill/>
        </p:spPr>
        <p:txBody>
          <a:bodyPr wrap="square">
            <a:spAutoFit/>
          </a:bodyPr>
          <a:lstStyle/>
          <a:p>
            <a:pPr algn="l">
              <a:defRPr sz="1000" b="0">
                <a:solidFill>
                  <a:srgbClr val="64748B"/>
                </a:solidFill>
                <a:latin typeface="Microsoft YaHei"/>
              </a:defRPr>
            </a:pPr>
            <a:r>
              <a:t>Forward</a:t>
            </a:r>
          </a:p>
        </p:txBody>
      </p:sp>
      <p:sp>
        <p:nvSpPr>
          <p:cNvPr id="9" name="TextBox 8"/>
          <p:cNvSpPr txBox="1"/>
          <p:nvPr/>
        </p:nvSpPr>
        <p:spPr>
          <a:xfrm>
            <a:off x="731520" y="4709160"/>
            <a:ext cx="2286000" cy="1463040"/>
          </a:xfrm>
          <a:prstGeom prst="rect">
            <a:avLst/>
          </a:prstGeom>
          <a:noFill/>
        </p:spPr>
        <p:txBody>
          <a:bodyPr wrap="square">
            <a:spAutoFit/>
          </a:bodyPr>
          <a:lstStyle/>
          <a:p>
            <a:pPr algn="l">
              <a:spcAft>
                <a:spcPts val="400"/>
              </a:spcAft>
              <a:defRPr sz="1100" b="0">
                <a:solidFill>
                  <a:srgbClr val="475569"/>
                </a:solidFill>
                <a:latin typeface="Microsoft YaHei"/>
              </a:defRPr>
            </a:pPr>
            <a:r>
              <a:t>鎖定未來匯率</a:t>
            </a:r>
          </a:p>
          <a:p>
            <a:pPr algn="l">
              <a:spcAft>
                <a:spcPts val="400"/>
              </a:spcAft>
              <a:defRPr sz="1100" b="0">
                <a:solidFill>
                  <a:srgbClr val="475569"/>
                </a:solidFill>
                <a:latin typeface="Microsoft YaHei"/>
              </a:defRPr>
            </a:pPr>
            <a:r>
              <a:t>消除匯率不確定性</a:t>
            </a:r>
          </a:p>
          <a:p>
            <a:pPr algn="l">
              <a:spcAft>
                <a:spcPts val="400"/>
              </a:spcAft>
              <a:defRPr sz="1100" b="0">
                <a:solidFill>
                  <a:srgbClr val="475569"/>
                </a:solidFill>
                <a:latin typeface="Microsoft YaHei"/>
              </a:defRPr>
            </a:pPr>
            <a:r>
              <a:t>適合確定性收入/支出</a:t>
            </a:r>
          </a:p>
        </p:txBody>
      </p:sp>
      <p:sp>
        <p:nvSpPr>
          <p:cNvPr id="10" name="Rounded Rectangle 9"/>
          <p:cNvSpPr/>
          <p:nvPr/>
        </p:nvSpPr>
        <p:spPr>
          <a:xfrm>
            <a:off x="3383280" y="3840480"/>
            <a:ext cx="2651760" cy="2560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92424" y="3849624"/>
            <a:ext cx="2633472"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4023360"/>
            <a:ext cx="2286000" cy="365760"/>
          </a:xfrm>
          <a:prstGeom prst="rect">
            <a:avLst/>
          </a:prstGeom>
          <a:noFill/>
        </p:spPr>
        <p:txBody>
          <a:bodyPr wrap="square">
            <a:spAutoFit/>
          </a:bodyPr>
          <a:lstStyle/>
          <a:p>
            <a:pPr algn="l">
              <a:defRPr sz="1500" b="1">
                <a:solidFill>
                  <a:srgbClr val="1A1A1A"/>
                </a:solidFill>
                <a:latin typeface="Microsoft YaHei"/>
              </a:defRPr>
            </a:pPr>
            <a:r>
              <a:t>期權策略</a:t>
            </a:r>
          </a:p>
        </p:txBody>
      </p:sp>
      <p:sp>
        <p:nvSpPr>
          <p:cNvPr id="13" name="TextBox 12"/>
          <p:cNvSpPr txBox="1"/>
          <p:nvPr/>
        </p:nvSpPr>
        <p:spPr>
          <a:xfrm>
            <a:off x="3566160" y="4343400"/>
            <a:ext cx="2286000" cy="274320"/>
          </a:xfrm>
          <a:prstGeom prst="rect">
            <a:avLst/>
          </a:prstGeom>
          <a:noFill/>
        </p:spPr>
        <p:txBody>
          <a:bodyPr wrap="square">
            <a:spAutoFit/>
          </a:bodyPr>
          <a:lstStyle/>
          <a:p>
            <a:pPr algn="l">
              <a:defRPr sz="1000" b="0">
                <a:solidFill>
                  <a:srgbClr val="64748B"/>
                </a:solidFill>
                <a:latin typeface="Microsoft YaHei"/>
              </a:defRPr>
            </a:pPr>
            <a:r>
              <a:t>Options</a:t>
            </a:r>
          </a:p>
        </p:txBody>
      </p:sp>
      <p:sp>
        <p:nvSpPr>
          <p:cNvPr id="14" name="TextBox 13"/>
          <p:cNvSpPr txBox="1"/>
          <p:nvPr/>
        </p:nvSpPr>
        <p:spPr>
          <a:xfrm>
            <a:off x="3566160" y="4709160"/>
            <a:ext cx="2286000" cy="1463040"/>
          </a:xfrm>
          <a:prstGeom prst="rect">
            <a:avLst/>
          </a:prstGeom>
          <a:noFill/>
        </p:spPr>
        <p:txBody>
          <a:bodyPr wrap="square">
            <a:spAutoFit/>
          </a:bodyPr>
          <a:lstStyle/>
          <a:p>
            <a:pPr algn="l">
              <a:spcAft>
                <a:spcPts val="400"/>
              </a:spcAft>
              <a:defRPr sz="1100" b="0">
                <a:solidFill>
                  <a:srgbClr val="475569"/>
                </a:solidFill>
                <a:latin typeface="Microsoft YaHei"/>
              </a:defRPr>
            </a:pPr>
            <a:r>
              <a:t>買入看漲/看跌期權</a:t>
            </a:r>
          </a:p>
          <a:p>
            <a:pPr algn="l">
              <a:spcAft>
                <a:spcPts val="400"/>
              </a:spcAft>
              <a:defRPr sz="1100" b="0">
                <a:solidFill>
                  <a:srgbClr val="475569"/>
                </a:solidFill>
                <a:latin typeface="Microsoft YaHei"/>
              </a:defRPr>
            </a:pPr>
            <a:r>
              <a:t>保留升幅潛力</a:t>
            </a:r>
          </a:p>
          <a:p>
            <a:pPr algn="l">
              <a:spcAft>
                <a:spcPts val="400"/>
              </a:spcAft>
              <a:defRPr sz="1100" b="0">
                <a:solidFill>
                  <a:srgbClr val="475569"/>
                </a:solidFill>
                <a:latin typeface="Microsoft YaHei"/>
              </a:defRPr>
            </a:pPr>
            <a:r>
              <a:t>限定了最大損失</a:t>
            </a:r>
          </a:p>
        </p:txBody>
      </p:sp>
      <p:sp>
        <p:nvSpPr>
          <p:cNvPr id="15" name="Rounded Rectangle 14"/>
          <p:cNvSpPr/>
          <p:nvPr/>
        </p:nvSpPr>
        <p:spPr>
          <a:xfrm>
            <a:off x="6217920" y="3840480"/>
            <a:ext cx="2651760" cy="2560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27064" y="3849624"/>
            <a:ext cx="2633472"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023360"/>
            <a:ext cx="2286000" cy="365760"/>
          </a:xfrm>
          <a:prstGeom prst="rect">
            <a:avLst/>
          </a:prstGeom>
          <a:noFill/>
        </p:spPr>
        <p:txBody>
          <a:bodyPr wrap="square">
            <a:spAutoFit/>
          </a:bodyPr>
          <a:lstStyle/>
          <a:p>
            <a:pPr algn="l">
              <a:defRPr sz="1500" b="1">
                <a:solidFill>
                  <a:srgbClr val="1A1A1A"/>
                </a:solidFill>
                <a:latin typeface="Microsoft YaHei"/>
              </a:defRPr>
            </a:pPr>
            <a:r>
              <a:t>天然對沖</a:t>
            </a:r>
          </a:p>
        </p:txBody>
      </p:sp>
      <p:sp>
        <p:nvSpPr>
          <p:cNvPr id="18" name="TextBox 17"/>
          <p:cNvSpPr txBox="1"/>
          <p:nvPr/>
        </p:nvSpPr>
        <p:spPr>
          <a:xfrm>
            <a:off x="6400800" y="4343400"/>
            <a:ext cx="2286000" cy="274320"/>
          </a:xfrm>
          <a:prstGeom prst="rect">
            <a:avLst/>
          </a:prstGeom>
          <a:noFill/>
        </p:spPr>
        <p:txBody>
          <a:bodyPr wrap="square">
            <a:spAutoFit/>
          </a:bodyPr>
          <a:lstStyle/>
          <a:p>
            <a:pPr algn="l">
              <a:defRPr sz="1000" b="0">
                <a:solidFill>
                  <a:srgbClr val="64748B"/>
                </a:solidFill>
                <a:latin typeface="Microsoft YaHei"/>
              </a:defRPr>
            </a:pPr>
            <a:r>
              <a:t>Natural Hedge</a:t>
            </a:r>
          </a:p>
        </p:txBody>
      </p:sp>
      <p:sp>
        <p:nvSpPr>
          <p:cNvPr id="19" name="TextBox 18"/>
          <p:cNvSpPr txBox="1"/>
          <p:nvPr/>
        </p:nvSpPr>
        <p:spPr>
          <a:xfrm>
            <a:off x="6400800" y="4709160"/>
            <a:ext cx="2286000" cy="1463040"/>
          </a:xfrm>
          <a:prstGeom prst="rect">
            <a:avLst/>
          </a:prstGeom>
          <a:noFill/>
        </p:spPr>
        <p:txBody>
          <a:bodyPr wrap="square">
            <a:spAutoFit/>
          </a:bodyPr>
          <a:lstStyle/>
          <a:p>
            <a:pPr algn="l">
              <a:spcAft>
                <a:spcPts val="400"/>
              </a:spcAft>
              <a:defRPr sz="1100" b="0">
                <a:solidFill>
                  <a:srgbClr val="475569"/>
                </a:solidFill>
                <a:latin typeface="Microsoft YaHei"/>
              </a:defRPr>
            </a:pPr>
            <a:r>
              <a:t>資產負債幣種匹配</a:t>
            </a:r>
          </a:p>
          <a:p>
            <a:pPr algn="l">
              <a:spcAft>
                <a:spcPts val="400"/>
              </a:spcAft>
              <a:defRPr sz="1100" b="0">
                <a:solidFill>
                  <a:srgbClr val="475569"/>
                </a:solidFill>
                <a:latin typeface="Microsoft YaHei"/>
              </a:defRPr>
            </a:pPr>
            <a:r>
              <a:t>無需金融工具成本</a:t>
            </a:r>
          </a:p>
          <a:p>
            <a:pPr algn="l">
              <a:spcAft>
                <a:spcPts val="400"/>
              </a:spcAft>
              <a:defRPr sz="1100" b="0">
                <a:solidFill>
                  <a:srgbClr val="475569"/>
                </a:solidFill>
                <a:latin typeface="Microsoft YaHei"/>
              </a:defRPr>
            </a:pPr>
            <a:r>
              <a:t>操作簡單流動性高</a:t>
            </a:r>
          </a:p>
        </p:txBody>
      </p:sp>
      <p:sp>
        <p:nvSpPr>
          <p:cNvPr id="20" name="Rounded Rectangle 19"/>
          <p:cNvSpPr/>
          <p:nvPr/>
        </p:nvSpPr>
        <p:spPr>
          <a:xfrm>
            <a:off x="9052560" y="3840480"/>
            <a:ext cx="2651760" cy="25603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61704" y="3849624"/>
            <a:ext cx="2633472"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5440" y="4023360"/>
            <a:ext cx="2286000" cy="365760"/>
          </a:xfrm>
          <a:prstGeom prst="rect">
            <a:avLst/>
          </a:prstGeom>
          <a:noFill/>
        </p:spPr>
        <p:txBody>
          <a:bodyPr wrap="square">
            <a:spAutoFit/>
          </a:bodyPr>
          <a:lstStyle/>
          <a:p>
            <a:pPr algn="l">
              <a:defRPr sz="1500" b="1">
                <a:solidFill>
                  <a:srgbClr val="1A1A1A"/>
                </a:solidFill>
                <a:latin typeface="Microsoft YaHei"/>
              </a:defRPr>
            </a:pPr>
            <a:r>
              <a:t>互換合約</a:t>
            </a:r>
          </a:p>
        </p:txBody>
      </p:sp>
      <p:sp>
        <p:nvSpPr>
          <p:cNvPr id="23" name="TextBox 22"/>
          <p:cNvSpPr txBox="1"/>
          <p:nvPr/>
        </p:nvSpPr>
        <p:spPr>
          <a:xfrm>
            <a:off x="9235440" y="4343400"/>
            <a:ext cx="2286000" cy="274320"/>
          </a:xfrm>
          <a:prstGeom prst="rect">
            <a:avLst/>
          </a:prstGeom>
          <a:noFill/>
        </p:spPr>
        <p:txBody>
          <a:bodyPr wrap="square">
            <a:spAutoFit/>
          </a:bodyPr>
          <a:lstStyle/>
          <a:p>
            <a:pPr algn="l">
              <a:defRPr sz="1000" b="0">
                <a:solidFill>
                  <a:srgbClr val="64748B"/>
                </a:solidFill>
                <a:latin typeface="Microsoft YaHei"/>
              </a:defRPr>
            </a:pPr>
            <a:r>
              <a:t>Swaps</a:t>
            </a:r>
          </a:p>
        </p:txBody>
      </p:sp>
      <p:sp>
        <p:nvSpPr>
          <p:cNvPr id="24" name="TextBox 23"/>
          <p:cNvSpPr txBox="1"/>
          <p:nvPr/>
        </p:nvSpPr>
        <p:spPr>
          <a:xfrm>
            <a:off x="9235440" y="4709160"/>
            <a:ext cx="2286000" cy="1463040"/>
          </a:xfrm>
          <a:prstGeom prst="rect">
            <a:avLst/>
          </a:prstGeom>
          <a:noFill/>
        </p:spPr>
        <p:txBody>
          <a:bodyPr wrap="square">
            <a:spAutoFit/>
          </a:bodyPr>
          <a:lstStyle/>
          <a:p>
            <a:pPr algn="l">
              <a:spcAft>
                <a:spcPts val="400"/>
              </a:spcAft>
              <a:defRPr sz="1100" b="0">
                <a:solidFill>
                  <a:srgbClr val="475569"/>
                </a:solidFill>
                <a:latin typeface="Microsoft YaHei"/>
              </a:defRPr>
            </a:pPr>
            <a:r>
              <a:t>交換不同幣種现金流</a:t>
            </a:r>
          </a:p>
          <a:p>
            <a:pPr algn="l">
              <a:spcAft>
                <a:spcPts val="400"/>
              </a:spcAft>
              <a:defRPr sz="1100" b="0">
                <a:solidFill>
                  <a:srgbClr val="475569"/>
                </a:solidFill>
                <a:latin typeface="Microsoft YaHei"/>
              </a:defRPr>
            </a:pPr>
            <a:r>
              <a:t>長期對沖利率+匯率</a:t>
            </a:r>
          </a:p>
          <a:p>
            <a:pPr algn="l">
              <a:spcAft>
                <a:spcPts val="400"/>
              </a:spcAft>
              <a:defRPr sz="1100" b="0">
                <a:solidFill>
                  <a:srgbClr val="475569"/>
                </a:solidFill>
                <a:latin typeface="Microsoft YaHei"/>
              </a:defRPr>
            </a:pPr>
            <a:r>
              <a:t>適合跨境融資結構</a:t>
            </a:r>
          </a:p>
        </p:txBody>
      </p:sp>
      <p:sp>
        <p:nvSpPr>
          <p:cNvPr id="25" name="Rectangle 24"/>
          <p:cNvSpPr/>
          <p:nvPr/>
        </p:nvSpPr>
        <p:spPr>
          <a:xfrm>
            <a:off x="0" y="6803136"/>
            <a:ext cx="12191695"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600" b="1">
                <a:solidFill>
                  <a:srgbClr val="FFFFFF"/>
                </a:solidFill>
                <a:latin typeface="Microsoft YaHei"/>
              </a:defRPr>
            </a:pPr>
            <a:r>
              <a:t>對沖工具多維度對比分析</a:t>
            </a:r>
          </a:p>
        </p:txBody>
      </p:sp>
      <p:pic>
        <p:nvPicPr>
          <p:cNvPr id="4" name="Picture 3" descr="hedging_radar.png"/>
          <p:cNvPicPr>
            <a:picLocks noChangeAspect="1"/>
          </p:cNvPicPr>
          <p:nvPr/>
        </p:nvPicPr>
        <p:blipFill>
          <a:blip r:embed="rId2"/>
          <a:stretch>
            <a:fillRect/>
          </a:stretch>
        </p:blipFill>
        <p:spPr>
          <a:xfrm>
            <a:off x="274320" y="1280160"/>
            <a:ext cx="5943600" cy="5029200"/>
          </a:xfrm>
          <a:prstGeom prst="rect">
            <a:avLst/>
          </a:prstGeom>
        </p:spPr>
      </p:pic>
      <p:pic>
        <p:nvPicPr>
          <p:cNvPr id="5" name="Picture 4" descr="hedging_cost_benefit.png"/>
          <p:cNvPicPr>
            <a:picLocks noChangeAspect="1"/>
          </p:cNvPicPr>
          <p:nvPr/>
        </p:nvPicPr>
        <p:blipFill>
          <a:blip r:embed="rId3"/>
          <a:stretch>
            <a:fillRect/>
          </a:stretch>
        </p:blipFill>
        <p:spPr>
          <a:xfrm>
            <a:off x="6217920" y="1280160"/>
            <a:ext cx="5669280" cy="5029200"/>
          </a:xfrm>
          <a:prstGeom prst="rect">
            <a:avLst/>
          </a:prstGeom>
        </p:spPr>
      </p:pic>
      <p:sp>
        <p:nvSpPr>
          <p:cNvPr id="6" name="Rectangle 5"/>
          <p:cNvSpPr/>
          <p:nvPr/>
        </p:nvSpPr>
        <p:spPr>
          <a:xfrm>
            <a:off x="0" y="6803136"/>
            <a:ext cx="12191695"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600" b="1">
                <a:solidFill>
                  <a:srgbClr val="FFFFFF"/>
                </a:solidFill>
                <a:latin typeface="Microsoft YaHei"/>
              </a:defRPr>
            </a:pPr>
            <a:r>
              <a:t>對沖策略實施流程</a:t>
            </a:r>
          </a:p>
        </p:txBody>
      </p:sp>
      <p:sp>
        <p:nvSpPr>
          <p:cNvPr id="4" name="Rounded Rectangle 3"/>
          <p:cNvSpPr/>
          <p:nvPr/>
        </p:nvSpPr>
        <p:spPr>
          <a:xfrm>
            <a:off x="457200" y="1645920"/>
            <a:ext cx="2011680" cy="27432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88720" y="1828800"/>
            <a:ext cx="548640" cy="54864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200"/>
              </a:spcBef>
              <a:defRPr sz="1800" b="1">
                <a:solidFill>
                  <a:srgbClr val="FFFFFF"/>
                </a:solidFill>
              </a:defRPr>
            </a:pPr>
            <a:r>
              <a:t>01</a:t>
            </a:r>
          </a:p>
        </p:txBody>
      </p:sp>
      <p:sp>
        <p:nvSpPr>
          <p:cNvPr id="6" name="TextBox 5"/>
          <p:cNvSpPr txBox="1"/>
          <p:nvPr/>
        </p:nvSpPr>
        <p:spPr>
          <a:xfrm>
            <a:off x="594360" y="2514600"/>
            <a:ext cx="1737360" cy="365760"/>
          </a:xfrm>
          <a:prstGeom prst="rect">
            <a:avLst/>
          </a:prstGeom>
          <a:noFill/>
        </p:spPr>
        <p:txBody>
          <a:bodyPr wrap="square">
            <a:spAutoFit/>
          </a:bodyPr>
          <a:lstStyle/>
          <a:p>
            <a:pPr algn="ctr">
              <a:defRPr sz="1400" b="1">
                <a:solidFill>
                  <a:srgbClr val="1A1A1A"/>
                </a:solidFill>
                <a:latin typeface="Microsoft YaHei"/>
              </a:defRPr>
            </a:pPr>
            <a:r>
              <a:t>風險識別</a:t>
            </a:r>
          </a:p>
        </p:txBody>
      </p:sp>
      <p:sp>
        <p:nvSpPr>
          <p:cNvPr id="7" name="TextBox 6"/>
          <p:cNvSpPr txBox="1"/>
          <p:nvPr/>
        </p:nvSpPr>
        <p:spPr>
          <a:xfrm>
            <a:off x="594360" y="3017520"/>
            <a:ext cx="1737360" cy="1188720"/>
          </a:xfrm>
          <a:prstGeom prst="rect">
            <a:avLst/>
          </a:prstGeom>
          <a:noFill/>
        </p:spPr>
        <p:txBody>
          <a:bodyPr wrap="square">
            <a:spAutoFit/>
          </a:bodyPr>
          <a:lstStyle/>
          <a:p>
            <a:pPr algn="ctr">
              <a:spcAft>
                <a:spcPts val="400"/>
              </a:spcAft>
              <a:defRPr sz="1100" b="0">
                <a:solidFill>
                  <a:srgbClr val="64748B"/>
                </a:solidFill>
                <a:latin typeface="Microsoft YaHei"/>
              </a:defRPr>
            </a:pPr>
            <a:r>
              <a:t>盤點外匯敞口</a:t>
            </a:r>
          </a:p>
          <a:p>
            <a:pPr algn="ctr">
              <a:spcAft>
                <a:spcPts val="400"/>
              </a:spcAft>
              <a:defRPr sz="1100" b="0">
                <a:solidFill>
                  <a:srgbClr val="64748B"/>
                </a:solidFill>
                <a:latin typeface="Microsoft YaHei"/>
              </a:defRPr>
            </a:pPr>
            <a:r>
              <a:t>確定幣種暴露</a:t>
            </a:r>
          </a:p>
        </p:txBody>
      </p:sp>
      <p:sp>
        <p:nvSpPr>
          <p:cNvPr id="8" name="Right Arrow 7"/>
          <p:cNvSpPr/>
          <p:nvPr/>
        </p:nvSpPr>
        <p:spPr>
          <a:xfrm>
            <a:off x="2487168" y="2743200"/>
            <a:ext cx="283464" cy="27432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88920" y="1645920"/>
            <a:ext cx="2011680" cy="27432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20440" y="1828800"/>
            <a:ext cx="548640" cy="54864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200"/>
              </a:spcBef>
              <a:defRPr sz="1800" b="1">
                <a:solidFill>
                  <a:srgbClr val="FFFFFF"/>
                </a:solidFill>
              </a:defRPr>
            </a:pPr>
            <a:r>
              <a:t>02</a:t>
            </a:r>
          </a:p>
        </p:txBody>
      </p:sp>
      <p:sp>
        <p:nvSpPr>
          <p:cNvPr id="11" name="TextBox 10"/>
          <p:cNvSpPr txBox="1"/>
          <p:nvPr/>
        </p:nvSpPr>
        <p:spPr>
          <a:xfrm>
            <a:off x="2926080" y="2514600"/>
            <a:ext cx="1737360" cy="365760"/>
          </a:xfrm>
          <a:prstGeom prst="rect">
            <a:avLst/>
          </a:prstGeom>
          <a:noFill/>
        </p:spPr>
        <p:txBody>
          <a:bodyPr wrap="square">
            <a:spAutoFit/>
          </a:bodyPr>
          <a:lstStyle/>
          <a:p>
            <a:pPr algn="ctr">
              <a:defRPr sz="1400" b="1">
                <a:solidFill>
                  <a:srgbClr val="1A1A1A"/>
                </a:solidFill>
                <a:latin typeface="Microsoft YaHei"/>
              </a:defRPr>
            </a:pPr>
            <a:r>
              <a:t>風險量化</a:t>
            </a:r>
          </a:p>
        </p:txBody>
      </p:sp>
      <p:sp>
        <p:nvSpPr>
          <p:cNvPr id="12" name="TextBox 11"/>
          <p:cNvSpPr txBox="1"/>
          <p:nvPr/>
        </p:nvSpPr>
        <p:spPr>
          <a:xfrm>
            <a:off x="2926080" y="3017520"/>
            <a:ext cx="1737360" cy="1188720"/>
          </a:xfrm>
          <a:prstGeom prst="rect">
            <a:avLst/>
          </a:prstGeom>
          <a:noFill/>
        </p:spPr>
        <p:txBody>
          <a:bodyPr wrap="square">
            <a:spAutoFit/>
          </a:bodyPr>
          <a:lstStyle/>
          <a:p>
            <a:pPr algn="ctr">
              <a:spcAft>
                <a:spcPts val="400"/>
              </a:spcAft>
              <a:defRPr sz="1100" b="0">
                <a:solidFill>
                  <a:srgbClr val="64748B"/>
                </a:solidFill>
                <a:latin typeface="Microsoft YaHei"/>
              </a:defRPr>
            </a:pPr>
            <a:r>
              <a:t>計算VaR值</a:t>
            </a:r>
          </a:p>
          <a:p>
            <a:pPr algn="ctr">
              <a:spcAft>
                <a:spcPts val="400"/>
              </a:spcAft>
              <a:defRPr sz="1100" b="0">
                <a:solidFill>
                  <a:srgbClr val="64748B"/>
                </a:solidFill>
                <a:latin typeface="Microsoft YaHei"/>
              </a:defRPr>
            </a:pPr>
            <a:r>
              <a:t>評估潛在損失</a:t>
            </a:r>
          </a:p>
        </p:txBody>
      </p:sp>
      <p:sp>
        <p:nvSpPr>
          <p:cNvPr id="13" name="Right Arrow 12"/>
          <p:cNvSpPr/>
          <p:nvPr/>
        </p:nvSpPr>
        <p:spPr>
          <a:xfrm>
            <a:off x="4818888" y="2743200"/>
            <a:ext cx="283464" cy="27432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20640" y="1645920"/>
            <a:ext cx="2011680" cy="27432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852160" y="1828800"/>
            <a:ext cx="548640" cy="548640"/>
          </a:xfrm>
          <a:prstGeom prst="ellipse">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200"/>
              </a:spcBef>
              <a:defRPr sz="1800" b="1">
                <a:solidFill>
                  <a:srgbClr val="FFFFFF"/>
                </a:solidFill>
              </a:defRPr>
            </a:pPr>
            <a:r>
              <a:t>03</a:t>
            </a:r>
          </a:p>
        </p:txBody>
      </p:sp>
      <p:sp>
        <p:nvSpPr>
          <p:cNvPr id="16" name="TextBox 15"/>
          <p:cNvSpPr txBox="1"/>
          <p:nvPr/>
        </p:nvSpPr>
        <p:spPr>
          <a:xfrm>
            <a:off x="5257800" y="2514600"/>
            <a:ext cx="1737360" cy="365760"/>
          </a:xfrm>
          <a:prstGeom prst="rect">
            <a:avLst/>
          </a:prstGeom>
          <a:noFill/>
        </p:spPr>
        <p:txBody>
          <a:bodyPr wrap="square">
            <a:spAutoFit/>
          </a:bodyPr>
          <a:lstStyle/>
          <a:p>
            <a:pPr algn="ctr">
              <a:defRPr sz="1400" b="1">
                <a:solidFill>
                  <a:srgbClr val="1A1A1A"/>
                </a:solidFill>
                <a:latin typeface="Microsoft YaHei"/>
              </a:defRPr>
            </a:pPr>
            <a:r>
              <a:t>工具選擇</a:t>
            </a:r>
          </a:p>
        </p:txBody>
      </p:sp>
      <p:sp>
        <p:nvSpPr>
          <p:cNvPr id="17" name="TextBox 16"/>
          <p:cNvSpPr txBox="1"/>
          <p:nvPr/>
        </p:nvSpPr>
        <p:spPr>
          <a:xfrm>
            <a:off x="5257800" y="3017520"/>
            <a:ext cx="1737360" cy="1188720"/>
          </a:xfrm>
          <a:prstGeom prst="rect">
            <a:avLst/>
          </a:prstGeom>
          <a:noFill/>
        </p:spPr>
        <p:txBody>
          <a:bodyPr wrap="square">
            <a:spAutoFit/>
          </a:bodyPr>
          <a:lstStyle/>
          <a:p>
            <a:pPr algn="ctr">
              <a:spcAft>
                <a:spcPts val="400"/>
              </a:spcAft>
              <a:defRPr sz="1100" b="0">
                <a:solidFill>
                  <a:srgbClr val="64748B"/>
                </a:solidFill>
                <a:latin typeface="Microsoft YaHei"/>
              </a:defRPr>
            </a:pPr>
            <a:r>
              <a:t>匹配對沖工具</a:t>
            </a:r>
          </a:p>
          <a:p>
            <a:pPr algn="ctr">
              <a:spcAft>
                <a:spcPts val="400"/>
              </a:spcAft>
              <a:defRPr sz="1100" b="0">
                <a:solidFill>
                  <a:srgbClr val="64748B"/>
                </a:solidFill>
                <a:latin typeface="Microsoft YaHei"/>
              </a:defRPr>
            </a:pPr>
            <a:r>
              <a:t>遠期/期權/互換</a:t>
            </a:r>
          </a:p>
        </p:txBody>
      </p:sp>
      <p:sp>
        <p:nvSpPr>
          <p:cNvPr id="18" name="Right Arrow 17"/>
          <p:cNvSpPr/>
          <p:nvPr/>
        </p:nvSpPr>
        <p:spPr>
          <a:xfrm>
            <a:off x="7150608" y="2743200"/>
            <a:ext cx="283464" cy="27432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52360" y="1645920"/>
            <a:ext cx="2011680" cy="27432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83880" y="1828800"/>
            <a:ext cx="548640" cy="5486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200"/>
              </a:spcBef>
              <a:defRPr sz="1800" b="1">
                <a:solidFill>
                  <a:srgbClr val="FFFFFF"/>
                </a:solidFill>
              </a:defRPr>
            </a:pPr>
            <a:r>
              <a:t>04</a:t>
            </a:r>
          </a:p>
        </p:txBody>
      </p:sp>
      <p:sp>
        <p:nvSpPr>
          <p:cNvPr id="21" name="TextBox 20"/>
          <p:cNvSpPr txBox="1"/>
          <p:nvPr/>
        </p:nvSpPr>
        <p:spPr>
          <a:xfrm>
            <a:off x="7589520" y="2514600"/>
            <a:ext cx="1737360" cy="365760"/>
          </a:xfrm>
          <a:prstGeom prst="rect">
            <a:avLst/>
          </a:prstGeom>
          <a:noFill/>
        </p:spPr>
        <p:txBody>
          <a:bodyPr wrap="square">
            <a:spAutoFit/>
          </a:bodyPr>
          <a:lstStyle/>
          <a:p>
            <a:pPr algn="ctr">
              <a:defRPr sz="1400" b="1">
                <a:solidFill>
                  <a:srgbClr val="1A1A1A"/>
                </a:solidFill>
                <a:latin typeface="Microsoft YaHei"/>
              </a:defRPr>
            </a:pPr>
            <a:r>
              <a:t>方案執行</a:t>
            </a:r>
          </a:p>
        </p:txBody>
      </p:sp>
      <p:sp>
        <p:nvSpPr>
          <p:cNvPr id="22" name="TextBox 21"/>
          <p:cNvSpPr txBox="1"/>
          <p:nvPr/>
        </p:nvSpPr>
        <p:spPr>
          <a:xfrm>
            <a:off x="7589520" y="3017520"/>
            <a:ext cx="1737360" cy="1188720"/>
          </a:xfrm>
          <a:prstGeom prst="rect">
            <a:avLst/>
          </a:prstGeom>
          <a:noFill/>
        </p:spPr>
        <p:txBody>
          <a:bodyPr wrap="square">
            <a:spAutoFit/>
          </a:bodyPr>
          <a:lstStyle/>
          <a:p>
            <a:pPr algn="ctr">
              <a:spcAft>
                <a:spcPts val="400"/>
              </a:spcAft>
              <a:defRPr sz="1100" b="0">
                <a:solidFill>
                  <a:srgbClr val="64748B"/>
                </a:solidFill>
                <a:latin typeface="Microsoft YaHei"/>
              </a:defRPr>
            </a:pPr>
            <a:r>
              <a:t>落實對沖交易</a:t>
            </a:r>
          </a:p>
          <a:p>
            <a:pPr algn="ctr">
              <a:spcAft>
                <a:spcPts val="400"/>
              </a:spcAft>
              <a:defRPr sz="1100" b="0">
                <a:solidFill>
                  <a:srgbClr val="64748B"/>
                </a:solidFill>
                <a:latin typeface="Microsoft YaHei"/>
              </a:defRPr>
            </a:pPr>
            <a:r>
              <a:t>設定觸發條件</a:t>
            </a:r>
          </a:p>
        </p:txBody>
      </p:sp>
      <p:sp>
        <p:nvSpPr>
          <p:cNvPr id="23" name="Right Arrow 22"/>
          <p:cNvSpPr/>
          <p:nvPr/>
        </p:nvSpPr>
        <p:spPr>
          <a:xfrm>
            <a:off x="9482328" y="2743200"/>
            <a:ext cx="283464" cy="274320"/>
          </a:xfrm>
          <a:prstGeom prst="rightArrow">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784080" y="1645920"/>
            <a:ext cx="2011680" cy="27432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515600" y="1828800"/>
            <a:ext cx="548640" cy="54864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200"/>
              </a:spcBef>
              <a:defRPr sz="1800" b="1">
                <a:solidFill>
                  <a:srgbClr val="FFFFFF"/>
                </a:solidFill>
              </a:defRPr>
            </a:pPr>
            <a:r>
              <a:t>05</a:t>
            </a:r>
          </a:p>
        </p:txBody>
      </p:sp>
      <p:sp>
        <p:nvSpPr>
          <p:cNvPr id="26" name="TextBox 25"/>
          <p:cNvSpPr txBox="1"/>
          <p:nvPr/>
        </p:nvSpPr>
        <p:spPr>
          <a:xfrm>
            <a:off x="9921240" y="2514600"/>
            <a:ext cx="1737360" cy="365760"/>
          </a:xfrm>
          <a:prstGeom prst="rect">
            <a:avLst/>
          </a:prstGeom>
          <a:noFill/>
        </p:spPr>
        <p:txBody>
          <a:bodyPr wrap="square">
            <a:spAutoFit/>
          </a:bodyPr>
          <a:lstStyle/>
          <a:p>
            <a:pPr algn="ctr">
              <a:defRPr sz="1400" b="1">
                <a:solidFill>
                  <a:srgbClr val="1A1A1A"/>
                </a:solidFill>
                <a:latin typeface="Microsoft YaHei"/>
              </a:defRPr>
            </a:pPr>
            <a:r>
              <a:t>持續監控</a:t>
            </a:r>
          </a:p>
        </p:txBody>
      </p:sp>
      <p:sp>
        <p:nvSpPr>
          <p:cNvPr id="27" name="TextBox 26"/>
          <p:cNvSpPr txBox="1"/>
          <p:nvPr/>
        </p:nvSpPr>
        <p:spPr>
          <a:xfrm>
            <a:off x="9921240" y="3017520"/>
            <a:ext cx="1737360" cy="1188720"/>
          </a:xfrm>
          <a:prstGeom prst="rect">
            <a:avLst/>
          </a:prstGeom>
          <a:noFill/>
        </p:spPr>
        <p:txBody>
          <a:bodyPr wrap="square">
            <a:spAutoFit/>
          </a:bodyPr>
          <a:lstStyle/>
          <a:p>
            <a:pPr algn="ctr">
              <a:spcAft>
                <a:spcPts val="400"/>
              </a:spcAft>
              <a:defRPr sz="1100" b="0">
                <a:solidFill>
                  <a:srgbClr val="64748B"/>
                </a:solidFill>
                <a:latin typeface="Microsoft YaHei"/>
              </a:defRPr>
            </a:pPr>
            <a:r>
              <a:t>回測VaR限額</a:t>
            </a:r>
          </a:p>
          <a:p>
            <a:pPr algn="ctr">
              <a:spcAft>
                <a:spcPts val="400"/>
              </a:spcAft>
              <a:defRPr sz="1100" b="0">
                <a:solidFill>
                  <a:srgbClr val="64748B"/>
                </a:solidFill>
                <a:latin typeface="Microsoft YaHei"/>
              </a:defRPr>
            </a:pPr>
            <a:r>
              <a:t>動態調整策略</a:t>
            </a:r>
          </a:p>
        </p:txBody>
      </p:sp>
      <p:sp>
        <p:nvSpPr>
          <p:cNvPr id="28" name="Rounded Rectangle 27"/>
          <p:cNvSpPr/>
          <p:nvPr/>
        </p:nvSpPr>
        <p:spPr>
          <a:xfrm>
            <a:off x="457200" y="4846320"/>
            <a:ext cx="11247120" cy="1645920"/>
          </a:xfrm>
          <a:prstGeom prst="roundRect">
            <a:avLst/>
          </a:prstGeom>
          <a:solidFill>
            <a:srgbClr val="FFFBEB"/>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983480"/>
            <a:ext cx="10698480" cy="1371600"/>
          </a:xfrm>
          <a:prstGeom prst="rect">
            <a:avLst/>
          </a:prstGeom>
          <a:noFill/>
        </p:spPr>
        <p:txBody>
          <a:bodyPr wrap="square">
            <a:spAutoFit/>
          </a:bodyPr>
          <a:lstStyle/>
          <a:p>
            <a:pPr algn="l">
              <a:spcAft>
                <a:spcPts val="800"/>
              </a:spcAft>
              <a:defRPr sz="1500" b="1">
                <a:solidFill>
                  <a:srgbClr val="78600F"/>
                </a:solidFill>
                <a:latin typeface="Microsoft YaHei"/>
              </a:defRPr>
            </a:pPr>
            <a:r>
              <a:t>核心原則：組合運用，最小化風險，最大化資產保護</a:t>
            </a:r>
          </a:p>
          <a:p>
            <a:pPr algn="l">
              <a:spcAft>
                <a:spcPts val="0"/>
              </a:spcAft>
              <a:defRPr sz="1200" b="0">
                <a:solidFill>
                  <a:srgbClr val="78600F"/>
                </a:solidFill>
                <a:latin typeface="Microsoft YaHei"/>
              </a:defRPr>
            </a:pPr>
            <a:r>
              <a:t>不同的對沖工具各有優劣，PZC Group 會根據客戶的實際外匯敞口、風險承受能力和資產結構，</a:t>
            </a:r>
          </a:p>
          <a:p>
            <a:pPr algn="l">
              <a:spcAft>
                <a:spcPts val="0"/>
              </a:spcAft>
              <a:defRPr sz="1200" b="0">
                <a:solidFill>
                  <a:srgbClr val="78600F"/>
                </a:solidFill>
                <a:latin typeface="Microsoft YaHei"/>
              </a:defRPr>
            </a:pPr>
            <a:r>
              <a:t>量身組合最適合的對沖方案，在控制成本的同時達到最佳保護效果。</a:t>
            </a:r>
          </a:p>
        </p:txBody>
      </p:sp>
      <p:sp>
        <p:nvSpPr>
          <p:cNvPr id="30" name="Rectangle 29"/>
          <p:cNvSpPr/>
          <p:nvPr/>
        </p:nvSpPr>
        <p:spPr>
          <a:xfrm>
            <a:off x="0" y="6803136"/>
            <a:ext cx="12191695"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600" b="1">
                <a:solidFill>
                  <a:srgbClr val="FFFFFF"/>
                </a:solidFill>
                <a:latin typeface="Microsoft YaHei"/>
              </a:defRPr>
            </a:pPr>
            <a:r>
              <a:t>服務四：風險估值 Value at Risk (VaR)</a:t>
            </a:r>
          </a:p>
        </p:txBody>
      </p:sp>
      <p:sp>
        <p:nvSpPr>
          <p:cNvPr id="4" name="TextBox 3"/>
          <p:cNvSpPr txBox="1"/>
          <p:nvPr/>
        </p:nvSpPr>
        <p:spPr>
          <a:xfrm>
            <a:off x="548640" y="1280160"/>
            <a:ext cx="5029200" cy="3200400"/>
          </a:xfrm>
          <a:prstGeom prst="rect">
            <a:avLst/>
          </a:prstGeom>
          <a:noFill/>
        </p:spPr>
        <p:txBody>
          <a:bodyPr wrap="square">
            <a:spAutoFit/>
          </a:bodyPr>
          <a:lstStyle/>
          <a:p>
            <a:pPr algn="l">
              <a:spcAft>
                <a:spcPts val="1000"/>
              </a:spcAft>
              <a:defRPr sz="1800" b="1">
                <a:solidFill>
                  <a:srgbClr val="1A1A1A"/>
                </a:solidFill>
                <a:latin typeface="Microsoft YaHei"/>
              </a:defRPr>
            </a:pPr>
            <a:r>
              <a:t>什麼是 VaR？</a:t>
            </a:r>
          </a:p>
          <a:p>
            <a:pPr algn="l">
              <a:spcAft>
                <a:spcPts val="1400"/>
              </a:spcAft>
              <a:defRPr sz="1200" b="0">
                <a:solidFill>
                  <a:srgbClr val="64748B"/>
                </a:solidFill>
                <a:latin typeface="Microsoft YaHei"/>
              </a:defRPr>
            </a:pPr>
            <a:r>
              <a:t>Value at Risk (風險估值) 是一種利用統計模型，計算客戶外匯資產組合在特定置信水平下的最大預期損失的風險衡量方法。</a:t>
            </a:r>
          </a:p>
          <a:p>
            <a:pPr algn="l">
              <a:spcAft>
                <a:spcPts val="800"/>
              </a:spcAft>
              <a:defRPr sz="1600" b="1">
                <a:solidFill>
                  <a:srgbClr val="1E3A5F"/>
                </a:solidFill>
                <a:latin typeface="Microsoft YaHei"/>
              </a:defRPr>
            </a:pPr>
            <a:r>
              <a:t>實際例子</a:t>
            </a:r>
          </a:p>
          <a:p>
            <a:pPr algn="l">
              <a:spcAft>
                <a:spcPts val="600"/>
              </a:spcAft>
              <a:defRPr sz="1400" b="1">
                <a:solidFill>
                  <a:srgbClr val="EF4444"/>
                </a:solidFill>
                <a:latin typeface="Microsoft YaHei"/>
              </a:defRPr>
            </a:pPr>
            <a:r>
              <a:t>「95% VaR 為 HK$500萬」</a:t>
            </a:r>
          </a:p>
          <a:p>
            <a:pPr algn="l">
              <a:spcAft>
                <a:spcPts val="1400"/>
              </a:spcAft>
              <a:defRPr sz="1200" b="0">
                <a:solidFill>
                  <a:srgbClr val="64748B"/>
                </a:solidFill>
                <a:latin typeface="Microsoft YaHei"/>
              </a:defRPr>
            </a:pPr>
            <a:r>
              <a:t>意味在正常市場條件下，有 95% 的機會單日損失不會超過 HK$500萬。換言之，只有 5% 的機率會出現更大損失。</a:t>
            </a:r>
          </a:p>
          <a:p>
            <a:pPr algn="l">
              <a:spcAft>
                <a:spcPts val="400"/>
              </a:spcAft>
              <a:defRPr sz="1200" b="0">
                <a:solidFill>
                  <a:srgbClr val="1E3A5F"/>
                </a:solidFill>
                <a:latin typeface="Microsoft YaHei"/>
              </a:defRPr>
            </a:pPr>
            <a:r>
              <a:t>服務對象：需要定期報告外匯風險敞口的客戶</a:t>
            </a:r>
          </a:p>
          <a:p>
            <a:pPr algn="l">
              <a:spcAft>
                <a:spcPts val="0"/>
              </a:spcAft>
              <a:defRPr sz="1200" b="0">
                <a:solidFill>
                  <a:srgbClr val="1E3A5F"/>
                </a:solidFill>
                <a:latin typeface="Microsoft YaHei"/>
              </a:defRPr>
            </a:pPr>
            <a:r>
              <a:t>交付成果：VaR 報告（包含置信度、風險值、走勢圖）</a:t>
            </a:r>
          </a:p>
        </p:txBody>
      </p:sp>
      <p:pic>
        <p:nvPicPr>
          <p:cNvPr id="5" name="Picture 4" descr="var_bell_curve.png"/>
          <p:cNvPicPr>
            <a:picLocks noChangeAspect="1"/>
          </p:cNvPicPr>
          <p:nvPr/>
        </p:nvPicPr>
        <p:blipFill>
          <a:blip r:embed="rId2"/>
          <a:stretch>
            <a:fillRect/>
          </a:stretch>
        </p:blipFill>
        <p:spPr>
          <a:xfrm>
            <a:off x="5943600" y="1188720"/>
            <a:ext cx="5943600" cy="3840480"/>
          </a:xfrm>
          <a:prstGeom prst="rect">
            <a:avLst/>
          </a:prstGeom>
        </p:spPr>
      </p:pic>
      <p:sp>
        <p:nvSpPr>
          <p:cNvPr id="6" name="Rounded Rectangle 5"/>
          <p:cNvSpPr/>
          <p:nvPr/>
        </p:nvSpPr>
        <p:spPr>
          <a:xfrm>
            <a:off x="548640" y="5303520"/>
            <a:ext cx="256032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394960"/>
            <a:ext cx="2286000" cy="274320"/>
          </a:xfrm>
          <a:prstGeom prst="rect">
            <a:avLst/>
          </a:prstGeom>
          <a:noFill/>
        </p:spPr>
        <p:txBody>
          <a:bodyPr wrap="square">
            <a:spAutoFit/>
          </a:bodyPr>
          <a:lstStyle/>
          <a:p>
            <a:pPr algn="ctr">
              <a:defRPr sz="1000" b="0">
                <a:solidFill>
                  <a:srgbClr val="64748B"/>
                </a:solidFill>
                <a:latin typeface="Microsoft YaHei"/>
              </a:defRPr>
            </a:pPr>
            <a:r>
              <a:t>置信水平</a:t>
            </a:r>
          </a:p>
        </p:txBody>
      </p:sp>
      <p:sp>
        <p:nvSpPr>
          <p:cNvPr id="8" name="TextBox 7"/>
          <p:cNvSpPr txBox="1"/>
          <p:nvPr/>
        </p:nvSpPr>
        <p:spPr>
          <a:xfrm>
            <a:off x="685800" y="5669280"/>
            <a:ext cx="2286000" cy="457200"/>
          </a:xfrm>
          <a:prstGeom prst="rect">
            <a:avLst/>
          </a:prstGeom>
          <a:noFill/>
        </p:spPr>
        <p:txBody>
          <a:bodyPr wrap="square">
            <a:spAutoFit/>
          </a:bodyPr>
          <a:lstStyle/>
          <a:p>
            <a:pPr algn="ctr">
              <a:defRPr sz="2200" b="1">
                <a:solidFill>
                  <a:srgbClr val="1A1A1A"/>
                </a:solidFill>
                <a:latin typeface="Microsoft YaHei"/>
              </a:defRPr>
            </a:pPr>
            <a:r>
              <a:t>95%</a:t>
            </a:r>
          </a:p>
        </p:txBody>
      </p:sp>
      <p:sp>
        <p:nvSpPr>
          <p:cNvPr id="9" name="TextBox 8"/>
          <p:cNvSpPr txBox="1"/>
          <p:nvPr/>
        </p:nvSpPr>
        <p:spPr>
          <a:xfrm>
            <a:off x="685800" y="6217920"/>
            <a:ext cx="2286000" cy="274320"/>
          </a:xfrm>
          <a:prstGeom prst="rect">
            <a:avLst/>
          </a:prstGeom>
          <a:noFill/>
        </p:spPr>
        <p:txBody>
          <a:bodyPr wrap="square">
            <a:spAutoFit/>
          </a:bodyPr>
          <a:lstStyle/>
          <a:p>
            <a:pPr algn="ctr">
              <a:defRPr sz="1000" b="0">
                <a:solidFill>
                  <a:srgbClr val="64748B"/>
                </a:solidFill>
                <a:latin typeface="Microsoft YaHei"/>
              </a:defRPr>
            </a:pPr>
            <a:r>
              <a:t>常規監控</a:t>
            </a:r>
          </a:p>
        </p:txBody>
      </p:sp>
      <p:sp>
        <p:nvSpPr>
          <p:cNvPr id="10" name="Rounded Rectangle 9"/>
          <p:cNvSpPr/>
          <p:nvPr/>
        </p:nvSpPr>
        <p:spPr>
          <a:xfrm>
            <a:off x="3291840" y="5303520"/>
            <a:ext cx="256032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9000" y="5394960"/>
            <a:ext cx="2286000" cy="274320"/>
          </a:xfrm>
          <a:prstGeom prst="rect">
            <a:avLst/>
          </a:prstGeom>
          <a:noFill/>
        </p:spPr>
        <p:txBody>
          <a:bodyPr wrap="square">
            <a:spAutoFit/>
          </a:bodyPr>
          <a:lstStyle/>
          <a:p>
            <a:pPr algn="ctr">
              <a:defRPr sz="1000" b="0">
                <a:solidFill>
                  <a:srgbClr val="64748B"/>
                </a:solidFill>
                <a:latin typeface="Microsoft YaHei"/>
              </a:defRPr>
            </a:pPr>
            <a:r>
              <a:t>VaR 值</a:t>
            </a:r>
          </a:p>
        </p:txBody>
      </p:sp>
      <p:sp>
        <p:nvSpPr>
          <p:cNvPr id="12" name="TextBox 11"/>
          <p:cNvSpPr txBox="1"/>
          <p:nvPr/>
        </p:nvSpPr>
        <p:spPr>
          <a:xfrm>
            <a:off x="3429000" y="5669280"/>
            <a:ext cx="2286000" cy="457200"/>
          </a:xfrm>
          <a:prstGeom prst="rect">
            <a:avLst/>
          </a:prstGeom>
          <a:noFill/>
        </p:spPr>
        <p:txBody>
          <a:bodyPr wrap="square">
            <a:spAutoFit/>
          </a:bodyPr>
          <a:lstStyle/>
          <a:p>
            <a:pPr algn="ctr">
              <a:defRPr sz="2200" b="1">
                <a:solidFill>
                  <a:srgbClr val="1A1A1A"/>
                </a:solidFill>
                <a:latin typeface="Microsoft YaHei"/>
              </a:defRPr>
            </a:pPr>
            <a:r>
              <a:t>HK$500萬</a:t>
            </a:r>
          </a:p>
        </p:txBody>
      </p:sp>
      <p:sp>
        <p:nvSpPr>
          <p:cNvPr id="13" name="TextBox 12"/>
          <p:cNvSpPr txBox="1"/>
          <p:nvPr/>
        </p:nvSpPr>
        <p:spPr>
          <a:xfrm>
            <a:off x="3429000" y="6217920"/>
            <a:ext cx="2286000" cy="274320"/>
          </a:xfrm>
          <a:prstGeom prst="rect">
            <a:avLst/>
          </a:prstGeom>
          <a:noFill/>
        </p:spPr>
        <p:txBody>
          <a:bodyPr wrap="square">
            <a:spAutoFit/>
          </a:bodyPr>
          <a:lstStyle/>
          <a:p>
            <a:pPr algn="ctr">
              <a:defRPr sz="1000" b="0">
                <a:solidFill>
                  <a:srgbClr val="64748B"/>
                </a:solidFill>
                <a:latin typeface="Microsoft YaHei"/>
              </a:defRPr>
            </a:pPr>
            <a:r>
              <a:t>單日最大損失</a:t>
            </a:r>
          </a:p>
        </p:txBody>
      </p:sp>
      <p:sp>
        <p:nvSpPr>
          <p:cNvPr id="14" name="Rounded Rectangle 13"/>
          <p:cNvSpPr/>
          <p:nvPr/>
        </p:nvSpPr>
        <p:spPr>
          <a:xfrm>
            <a:off x="6035040" y="5303520"/>
            <a:ext cx="256032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5394960"/>
            <a:ext cx="2286000" cy="274320"/>
          </a:xfrm>
          <a:prstGeom prst="rect">
            <a:avLst/>
          </a:prstGeom>
          <a:noFill/>
        </p:spPr>
        <p:txBody>
          <a:bodyPr wrap="square">
            <a:spAutoFit/>
          </a:bodyPr>
          <a:lstStyle/>
          <a:p>
            <a:pPr algn="ctr">
              <a:defRPr sz="1000" b="0">
                <a:solidFill>
                  <a:srgbClr val="64748B"/>
                </a:solidFill>
                <a:latin typeface="Microsoft YaHei"/>
              </a:defRPr>
            </a:pPr>
            <a:r>
              <a:t>回測期</a:t>
            </a:r>
          </a:p>
        </p:txBody>
      </p:sp>
      <p:sp>
        <p:nvSpPr>
          <p:cNvPr id="16" name="TextBox 15"/>
          <p:cNvSpPr txBox="1"/>
          <p:nvPr/>
        </p:nvSpPr>
        <p:spPr>
          <a:xfrm>
            <a:off x="6172200" y="5669280"/>
            <a:ext cx="2286000" cy="457200"/>
          </a:xfrm>
          <a:prstGeom prst="rect">
            <a:avLst/>
          </a:prstGeom>
          <a:noFill/>
        </p:spPr>
        <p:txBody>
          <a:bodyPr wrap="square">
            <a:spAutoFit/>
          </a:bodyPr>
          <a:lstStyle/>
          <a:p>
            <a:pPr algn="ctr">
              <a:defRPr sz="2200" b="1">
                <a:solidFill>
                  <a:srgbClr val="1A1A1A"/>
                </a:solidFill>
                <a:latin typeface="Microsoft YaHei"/>
              </a:defRPr>
            </a:pPr>
            <a:r>
              <a:t>250 日</a:t>
            </a:r>
          </a:p>
        </p:txBody>
      </p:sp>
      <p:sp>
        <p:nvSpPr>
          <p:cNvPr id="17" name="TextBox 16"/>
          <p:cNvSpPr txBox="1"/>
          <p:nvPr/>
        </p:nvSpPr>
        <p:spPr>
          <a:xfrm>
            <a:off x="6172200" y="6217920"/>
            <a:ext cx="2286000" cy="274320"/>
          </a:xfrm>
          <a:prstGeom prst="rect">
            <a:avLst/>
          </a:prstGeom>
          <a:noFill/>
        </p:spPr>
        <p:txBody>
          <a:bodyPr wrap="square">
            <a:spAutoFit/>
          </a:bodyPr>
          <a:lstStyle/>
          <a:p>
            <a:pPr algn="ctr">
              <a:defRPr sz="1000" b="0">
                <a:solidFill>
                  <a:srgbClr val="64748B"/>
                </a:solidFill>
                <a:latin typeface="Microsoft YaHei"/>
              </a:defRPr>
            </a:pPr>
            <a:r>
              <a:t>國際標準</a:t>
            </a:r>
          </a:p>
        </p:txBody>
      </p:sp>
      <p:sp>
        <p:nvSpPr>
          <p:cNvPr id="18" name="Rounded Rectangle 17"/>
          <p:cNvSpPr/>
          <p:nvPr/>
        </p:nvSpPr>
        <p:spPr>
          <a:xfrm>
            <a:off x="8778240" y="5303520"/>
            <a:ext cx="256032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15400" y="5394960"/>
            <a:ext cx="2286000" cy="274320"/>
          </a:xfrm>
          <a:prstGeom prst="rect">
            <a:avLst/>
          </a:prstGeom>
          <a:noFill/>
        </p:spPr>
        <p:txBody>
          <a:bodyPr wrap="square">
            <a:spAutoFit/>
          </a:bodyPr>
          <a:lstStyle/>
          <a:p>
            <a:pPr algn="ctr">
              <a:defRPr sz="1000" b="0">
                <a:solidFill>
                  <a:srgbClr val="64748B"/>
                </a:solidFill>
                <a:latin typeface="Microsoft YaHei"/>
              </a:defRPr>
            </a:pPr>
            <a:r>
              <a:t>突破次數</a:t>
            </a:r>
          </a:p>
        </p:txBody>
      </p:sp>
      <p:sp>
        <p:nvSpPr>
          <p:cNvPr id="20" name="TextBox 19"/>
          <p:cNvSpPr txBox="1"/>
          <p:nvPr/>
        </p:nvSpPr>
        <p:spPr>
          <a:xfrm>
            <a:off x="8915400" y="5669280"/>
            <a:ext cx="2286000" cy="457200"/>
          </a:xfrm>
          <a:prstGeom prst="rect">
            <a:avLst/>
          </a:prstGeom>
          <a:noFill/>
        </p:spPr>
        <p:txBody>
          <a:bodyPr wrap="square">
            <a:spAutoFit/>
          </a:bodyPr>
          <a:lstStyle/>
          <a:p>
            <a:pPr algn="ctr">
              <a:defRPr sz="2200" b="1">
                <a:solidFill>
                  <a:srgbClr val="1A1A1A"/>
                </a:solidFill>
                <a:latin typeface="Microsoft YaHei"/>
              </a:defRPr>
            </a:pPr>
            <a:r>
              <a:t>&lt; 13 次</a:t>
            </a:r>
          </a:p>
        </p:txBody>
      </p:sp>
      <p:sp>
        <p:nvSpPr>
          <p:cNvPr id="21" name="TextBox 20"/>
          <p:cNvSpPr txBox="1"/>
          <p:nvPr/>
        </p:nvSpPr>
        <p:spPr>
          <a:xfrm>
            <a:off x="8915400" y="6217920"/>
            <a:ext cx="2286000" cy="274320"/>
          </a:xfrm>
          <a:prstGeom prst="rect">
            <a:avLst/>
          </a:prstGeom>
          <a:noFill/>
        </p:spPr>
        <p:txBody>
          <a:bodyPr wrap="square">
            <a:spAutoFit/>
          </a:bodyPr>
          <a:lstStyle/>
          <a:p>
            <a:pPr algn="ctr">
              <a:defRPr sz="1000" b="0">
                <a:solidFill>
                  <a:srgbClr val="64748B"/>
                </a:solidFill>
                <a:latin typeface="Microsoft YaHei"/>
              </a:defRPr>
            </a:pPr>
            <a:r>
              <a:t>95% 容忍度</a:t>
            </a:r>
          </a:p>
        </p:txBody>
      </p:sp>
      <p:sp>
        <p:nvSpPr>
          <p:cNvPr id="22" name="Rectangle 21"/>
          <p:cNvSpPr/>
          <p:nvPr/>
        </p:nvSpPr>
        <p:spPr>
          <a:xfrm>
            <a:off x="0" y="6803136"/>
            <a:ext cx="12191695"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600" b="1">
                <a:solidFill>
                  <a:srgbClr val="FFFFFF"/>
                </a:solidFill>
                <a:latin typeface="Microsoft YaHei"/>
              </a:defRPr>
            </a:pPr>
            <a:r>
              <a:t>VaR 分析圖表</a:t>
            </a:r>
          </a:p>
        </p:txBody>
      </p:sp>
      <p:pic>
        <p:nvPicPr>
          <p:cNvPr id="4" name="Picture 3" descr="var_confidence_levels.png"/>
          <p:cNvPicPr>
            <a:picLocks noChangeAspect="1"/>
          </p:cNvPicPr>
          <p:nvPr/>
        </p:nvPicPr>
        <p:blipFill>
          <a:blip r:embed="rId2"/>
          <a:stretch>
            <a:fillRect/>
          </a:stretch>
        </p:blipFill>
        <p:spPr>
          <a:xfrm>
            <a:off x="274320" y="1280160"/>
            <a:ext cx="5760720" cy="4572000"/>
          </a:xfrm>
          <a:prstGeom prst="rect">
            <a:avLst/>
          </a:prstGeom>
        </p:spPr>
      </p:pic>
      <p:pic>
        <p:nvPicPr>
          <p:cNvPr id="5" name="Picture 4" descr="var_backtest.png"/>
          <p:cNvPicPr>
            <a:picLocks noChangeAspect="1"/>
          </p:cNvPicPr>
          <p:nvPr/>
        </p:nvPicPr>
        <p:blipFill>
          <a:blip r:embed="rId3"/>
          <a:stretch>
            <a:fillRect/>
          </a:stretch>
        </p:blipFill>
        <p:spPr>
          <a:xfrm>
            <a:off x="6126480" y="1280160"/>
            <a:ext cx="5760720" cy="4572000"/>
          </a:xfrm>
          <a:prstGeom prst="rect">
            <a:avLst/>
          </a:prstGeom>
        </p:spPr>
      </p:pic>
      <p:sp>
        <p:nvSpPr>
          <p:cNvPr id="6" name="Rounded Rectangle 5"/>
          <p:cNvSpPr/>
          <p:nvPr/>
        </p:nvSpPr>
        <p:spPr>
          <a:xfrm>
            <a:off x="457200" y="5943600"/>
            <a:ext cx="11247120" cy="685800"/>
          </a:xfrm>
          <a:prstGeom prst="roundRect">
            <a:avLst/>
          </a:prstGeom>
          <a:solidFill>
            <a:srgbClr val="FEF2F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989320"/>
            <a:ext cx="10698480" cy="548640"/>
          </a:xfrm>
          <a:prstGeom prst="rect">
            <a:avLst/>
          </a:prstGeom>
          <a:noFill/>
        </p:spPr>
        <p:txBody>
          <a:bodyPr wrap="square">
            <a:spAutoFit/>
          </a:bodyPr>
          <a:lstStyle/>
          <a:p>
            <a:pPr algn="l">
              <a:defRPr sz="1200" b="0">
                <a:solidFill>
                  <a:srgbClr val="991B1B"/>
                </a:solidFill>
                <a:latin typeface="Microsoft YaHei"/>
              </a:defRPr>
            </a:pPr>
            <a:r>
              <a:t>當實際損失超過 VaR 限額時（紅色標記），需要重新評估風險參數或調整對沖策略</a:t>
            </a:r>
          </a:p>
        </p:txBody>
      </p:sp>
      <p:sp>
        <p:nvSpPr>
          <p:cNvPr id="8" name="Rectangle 7"/>
          <p:cNvSpPr/>
          <p:nvPr/>
        </p:nvSpPr>
        <p:spPr>
          <a:xfrm>
            <a:off x="0" y="6803136"/>
            <a:ext cx="12191695"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600" b="1">
                <a:solidFill>
                  <a:srgbClr val="FFFFFF"/>
                </a:solidFill>
                <a:latin typeface="Microsoft YaHei"/>
              </a:defRPr>
            </a:pPr>
            <a:r>
              <a:t>VaR 計算方法比較</a:t>
            </a:r>
          </a:p>
        </p:txBody>
      </p:sp>
      <p:sp>
        <p:nvSpPr>
          <p:cNvPr id="4" name="Rectangle 3"/>
          <p:cNvSpPr/>
          <p:nvPr/>
        </p:nvSpPr>
        <p:spPr>
          <a:xfrm>
            <a:off x="548640" y="1371600"/>
            <a:ext cx="22860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2103120" cy="457200"/>
          </a:xfrm>
          <a:prstGeom prst="rect">
            <a:avLst/>
          </a:prstGeom>
          <a:noFill/>
        </p:spPr>
        <p:txBody>
          <a:bodyPr wrap="square">
            <a:spAutoFit/>
          </a:bodyPr>
          <a:lstStyle/>
          <a:p>
            <a:pPr algn="ctr">
              <a:defRPr sz="1300" b="1">
                <a:solidFill>
                  <a:srgbClr val="FFFFFF"/>
                </a:solidFill>
                <a:latin typeface="Microsoft YaHei"/>
              </a:defRPr>
            </a:pPr>
          </a:p>
        </p:txBody>
      </p:sp>
      <p:sp>
        <p:nvSpPr>
          <p:cNvPr id="6" name="Rectangle 5"/>
          <p:cNvSpPr/>
          <p:nvPr/>
        </p:nvSpPr>
        <p:spPr>
          <a:xfrm>
            <a:off x="2834640" y="1371600"/>
            <a:ext cx="292608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0" y="1554480"/>
            <a:ext cx="2743200" cy="457200"/>
          </a:xfrm>
          <a:prstGeom prst="rect">
            <a:avLst/>
          </a:prstGeom>
          <a:noFill/>
        </p:spPr>
        <p:txBody>
          <a:bodyPr wrap="square">
            <a:spAutoFit/>
          </a:bodyPr>
          <a:lstStyle/>
          <a:p>
            <a:pPr algn="ctr">
              <a:defRPr sz="1200" b="1">
                <a:solidFill>
                  <a:srgbClr val="FFFFFF"/>
                </a:solidFill>
                <a:latin typeface="Microsoft YaHei"/>
              </a:defRPr>
            </a:pPr>
            <a:r>
              <a:t>歷史模擬法</a:t>
            </a:r>
          </a:p>
        </p:txBody>
      </p:sp>
      <p:sp>
        <p:nvSpPr>
          <p:cNvPr id="8" name="Rectangle 7"/>
          <p:cNvSpPr/>
          <p:nvPr/>
        </p:nvSpPr>
        <p:spPr>
          <a:xfrm>
            <a:off x="5760720" y="1371600"/>
            <a:ext cx="32004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0" y="1554480"/>
            <a:ext cx="3017520" cy="457200"/>
          </a:xfrm>
          <a:prstGeom prst="rect">
            <a:avLst/>
          </a:prstGeom>
          <a:noFill/>
        </p:spPr>
        <p:txBody>
          <a:bodyPr wrap="square">
            <a:spAutoFit/>
          </a:bodyPr>
          <a:lstStyle/>
          <a:p>
            <a:pPr algn="ctr">
              <a:defRPr sz="1200" b="1">
                <a:solidFill>
                  <a:srgbClr val="FFFFFF"/>
                </a:solidFill>
                <a:latin typeface="Microsoft YaHei"/>
              </a:defRPr>
            </a:pPr>
            <a:r>
              <a:t>參數法 (方差-協方差)</a:t>
            </a:r>
          </a:p>
        </p:txBody>
      </p:sp>
      <p:sp>
        <p:nvSpPr>
          <p:cNvPr id="10" name="Rectangle 9"/>
          <p:cNvSpPr/>
          <p:nvPr/>
        </p:nvSpPr>
        <p:spPr>
          <a:xfrm>
            <a:off x="8961120" y="1371600"/>
            <a:ext cx="32004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0" y="1554480"/>
            <a:ext cx="3017520" cy="457200"/>
          </a:xfrm>
          <a:prstGeom prst="rect">
            <a:avLst/>
          </a:prstGeom>
          <a:noFill/>
        </p:spPr>
        <p:txBody>
          <a:bodyPr wrap="square">
            <a:spAutoFit/>
          </a:bodyPr>
          <a:lstStyle/>
          <a:p>
            <a:pPr algn="ctr">
              <a:defRPr sz="1200" b="1">
                <a:solidFill>
                  <a:srgbClr val="FFFFFF"/>
                </a:solidFill>
                <a:latin typeface="Microsoft YaHei"/>
              </a:defRPr>
            </a:pPr>
            <a:r>
              <a:t>蒙地卡羅模擬</a:t>
            </a:r>
          </a:p>
        </p:txBody>
      </p:sp>
      <p:sp>
        <p:nvSpPr>
          <p:cNvPr id="12" name="Rectangle 11"/>
          <p:cNvSpPr/>
          <p:nvPr/>
        </p:nvSpPr>
        <p:spPr>
          <a:xfrm>
            <a:off x="548640" y="2194560"/>
            <a:ext cx="2286000" cy="822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377440"/>
            <a:ext cx="2103120" cy="457200"/>
          </a:xfrm>
          <a:prstGeom prst="rect">
            <a:avLst/>
          </a:prstGeom>
          <a:noFill/>
        </p:spPr>
        <p:txBody>
          <a:bodyPr wrap="square">
            <a:spAutoFit/>
          </a:bodyPr>
          <a:lstStyle/>
          <a:p>
            <a:pPr algn="l">
              <a:defRPr sz="1200" b="1">
                <a:solidFill>
                  <a:srgbClr val="1A1A1A"/>
                </a:solidFill>
                <a:latin typeface="Microsoft YaHei"/>
              </a:defRPr>
            </a:pPr>
            <a:r>
              <a:t>計算方式</a:t>
            </a:r>
          </a:p>
        </p:txBody>
      </p:sp>
      <p:sp>
        <p:nvSpPr>
          <p:cNvPr id="14" name="Rectangle 13"/>
          <p:cNvSpPr/>
          <p:nvPr/>
        </p:nvSpPr>
        <p:spPr>
          <a:xfrm>
            <a:off x="2834640" y="2194560"/>
            <a:ext cx="292608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0" y="2377440"/>
            <a:ext cx="2743200" cy="457200"/>
          </a:xfrm>
          <a:prstGeom prst="rect">
            <a:avLst/>
          </a:prstGeom>
          <a:noFill/>
        </p:spPr>
        <p:txBody>
          <a:bodyPr wrap="square">
            <a:spAutoFit/>
          </a:bodyPr>
          <a:lstStyle/>
          <a:p>
            <a:pPr algn="ctr">
              <a:defRPr sz="1100" b="0">
                <a:solidFill>
                  <a:srgbClr val="64748B"/>
                </a:solidFill>
                <a:latin typeface="Microsoft YaHei"/>
              </a:defRPr>
            </a:pPr>
            <a:r>
              <a:t>使用歷史數據的重排</a:t>
            </a:r>
          </a:p>
        </p:txBody>
      </p:sp>
      <p:sp>
        <p:nvSpPr>
          <p:cNvPr id="16" name="Rectangle 15"/>
          <p:cNvSpPr/>
          <p:nvPr/>
        </p:nvSpPr>
        <p:spPr>
          <a:xfrm>
            <a:off x="5760720" y="2194560"/>
            <a:ext cx="320040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2160" y="2377440"/>
            <a:ext cx="3017520" cy="457200"/>
          </a:xfrm>
          <a:prstGeom prst="rect">
            <a:avLst/>
          </a:prstGeom>
          <a:noFill/>
        </p:spPr>
        <p:txBody>
          <a:bodyPr wrap="square">
            <a:spAutoFit/>
          </a:bodyPr>
          <a:lstStyle/>
          <a:p>
            <a:pPr algn="ctr">
              <a:defRPr sz="1100" b="0">
                <a:solidFill>
                  <a:srgbClr val="64748B"/>
                </a:solidFill>
                <a:latin typeface="Microsoft YaHei"/>
              </a:defRPr>
            </a:pPr>
            <a:r>
              <a:t>假設常態分佈</a:t>
            </a:r>
          </a:p>
        </p:txBody>
      </p:sp>
      <p:sp>
        <p:nvSpPr>
          <p:cNvPr id="18" name="Rectangle 17"/>
          <p:cNvSpPr/>
          <p:nvPr/>
        </p:nvSpPr>
        <p:spPr>
          <a:xfrm>
            <a:off x="8961120" y="2194560"/>
            <a:ext cx="320040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0" y="2377440"/>
            <a:ext cx="3017520" cy="457200"/>
          </a:xfrm>
          <a:prstGeom prst="rect">
            <a:avLst/>
          </a:prstGeom>
          <a:noFill/>
        </p:spPr>
        <p:txBody>
          <a:bodyPr wrap="square">
            <a:spAutoFit/>
          </a:bodyPr>
          <a:lstStyle/>
          <a:p>
            <a:pPr algn="ctr">
              <a:defRPr sz="1100" b="0">
                <a:solidFill>
                  <a:srgbClr val="64748B"/>
                </a:solidFill>
                <a:latin typeface="Microsoft YaHei"/>
              </a:defRPr>
            </a:pPr>
            <a:r>
              <a:t>隨機模擬大量路徑</a:t>
            </a:r>
          </a:p>
        </p:txBody>
      </p:sp>
      <p:sp>
        <p:nvSpPr>
          <p:cNvPr id="20" name="Rectangle 19"/>
          <p:cNvSpPr/>
          <p:nvPr/>
        </p:nvSpPr>
        <p:spPr>
          <a:xfrm>
            <a:off x="548640" y="3017520"/>
            <a:ext cx="2286000" cy="822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200400"/>
            <a:ext cx="2103120" cy="457200"/>
          </a:xfrm>
          <a:prstGeom prst="rect">
            <a:avLst/>
          </a:prstGeom>
          <a:noFill/>
        </p:spPr>
        <p:txBody>
          <a:bodyPr wrap="square">
            <a:spAutoFit/>
          </a:bodyPr>
          <a:lstStyle/>
          <a:p>
            <a:pPr algn="l">
              <a:defRPr sz="1200" b="1">
                <a:solidFill>
                  <a:srgbClr val="1A1A1A"/>
                </a:solidFill>
                <a:latin typeface="Microsoft YaHei"/>
              </a:defRPr>
            </a:pPr>
            <a:r>
              <a:t>優點</a:t>
            </a:r>
          </a:p>
        </p:txBody>
      </p:sp>
      <p:sp>
        <p:nvSpPr>
          <p:cNvPr id="22" name="Rectangle 21"/>
          <p:cNvSpPr/>
          <p:nvPr/>
        </p:nvSpPr>
        <p:spPr>
          <a:xfrm>
            <a:off x="2834640" y="3017520"/>
            <a:ext cx="292608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26080" y="3200400"/>
            <a:ext cx="2743200" cy="457200"/>
          </a:xfrm>
          <a:prstGeom prst="rect">
            <a:avLst/>
          </a:prstGeom>
          <a:noFill/>
        </p:spPr>
        <p:txBody>
          <a:bodyPr wrap="square">
            <a:spAutoFit/>
          </a:bodyPr>
          <a:lstStyle/>
          <a:p>
            <a:pPr algn="ctr">
              <a:defRPr sz="1100" b="0">
                <a:solidFill>
                  <a:srgbClr val="64748B"/>
                </a:solidFill>
                <a:latin typeface="Microsoft YaHei"/>
              </a:defRPr>
            </a:pPr>
            <a:r>
              <a:t>直觀、無分佈假設</a:t>
            </a:r>
          </a:p>
        </p:txBody>
      </p:sp>
      <p:sp>
        <p:nvSpPr>
          <p:cNvPr id="24" name="Rectangle 23"/>
          <p:cNvSpPr/>
          <p:nvPr/>
        </p:nvSpPr>
        <p:spPr>
          <a:xfrm>
            <a:off x="5760720" y="3017520"/>
            <a:ext cx="32004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52160" y="3200400"/>
            <a:ext cx="3017520" cy="457200"/>
          </a:xfrm>
          <a:prstGeom prst="rect">
            <a:avLst/>
          </a:prstGeom>
          <a:noFill/>
        </p:spPr>
        <p:txBody>
          <a:bodyPr wrap="square">
            <a:spAutoFit/>
          </a:bodyPr>
          <a:lstStyle/>
          <a:p>
            <a:pPr algn="ctr">
              <a:defRPr sz="1100" b="0">
                <a:solidFill>
                  <a:srgbClr val="64748B"/>
                </a:solidFill>
                <a:latin typeface="Microsoft YaHei"/>
              </a:defRPr>
            </a:pPr>
            <a:r>
              <a:t>計算速度快</a:t>
            </a:r>
          </a:p>
        </p:txBody>
      </p:sp>
      <p:sp>
        <p:nvSpPr>
          <p:cNvPr id="26" name="Rectangle 25"/>
          <p:cNvSpPr/>
          <p:nvPr/>
        </p:nvSpPr>
        <p:spPr>
          <a:xfrm>
            <a:off x="8961120" y="3017520"/>
            <a:ext cx="32004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52560" y="3200400"/>
            <a:ext cx="3017520" cy="457200"/>
          </a:xfrm>
          <a:prstGeom prst="rect">
            <a:avLst/>
          </a:prstGeom>
          <a:noFill/>
        </p:spPr>
        <p:txBody>
          <a:bodyPr wrap="square">
            <a:spAutoFit/>
          </a:bodyPr>
          <a:lstStyle/>
          <a:p>
            <a:pPr algn="ctr">
              <a:defRPr sz="1100" b="0">
                <a:solidFill>
                  <a:srgbClr val="64748B"/>
                </a:solidFill>
                <a:latin typeface="Microsoft YaHei"/>
              </a:defRPr>
            </a:pPr>
            <a:r>
              <a:t>最靈活、可處理非線性</a:t>
            </a:r>
          </a:p>
        </p:txBody>
      </p:sp>
      <p:sp>
        <p:nvSpPr>
          <p:cNvPr id="28" name="Rectangle 27"/>
          <p:cNvSpPr/>
          <p:nvPr/>
        </p:nvSpPr>
        <p:spPr>
          <a:xfrm>
            <a:off x="548640" y="3840480"/>
            <a:ext cx="2286000" cy="822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023360"/>
            <a:ext cx="2103120" cy="457200"/>
          </a:xfrm>
          <a:prstGeom prst="rect">
            <a:avLst/>
          </a:prstGeom>
          <a:noFill/>
        </p:spPr>
        <p:txBody>
          <a:bodyPr wrap="square">
            <a:spAutoFit/>
          </a:bodyPr>
          <a:lstStyle/>
          <a:p>
            <a:pPr algn="l">
              <a:defRPr sz="1200" b="1">
                <a:solidFill>
                  <a:srgbClr val="1A1A1A"/>
                </a:solidFill>
                <a:latin typeface="Microsoft YaHei"/>
              </a:defRPr>
            </a:pPr>
            <a:r>
              <a:t>缺點</a:t>
            </a:r>
          </a:p>
        </p:txBody>
      </p:sp>
      <p:sp>
        <p:nvSpPr>
          <p:cNvPr id="30" name="Rectangle 29"/>
          <p:cNvSpPr/>
          <p:nvPr/>
        </p:nvSpPr>
        <p:spPr>
          <a:xfrm>
            <a:off x="2834640" y="3840480"/>
            <a:ext cx="292608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26080" y="4023360"/>
            <a:ext cx="2743200" cy="457200"/>
          </a:xfrm>
          <a:prstGeom prst="rect">
            <a:avLst/>
          </a:prstGeom>
          <a:noFill/>
        </p:spPr>
        <p:txBody>
          <a:bodyPr wrap="square">
            <a:spAutoFit/>
          </a:bodyPr>
          <a:lstStyle/>
          <a:p>
            <a:pPr algn="ctr">
              <a:defRPr sz="1100" b="0">
                <a:solidFill>
                  <a:srgbClr val="64748B"/>
                </a:solidFill>
                <a:latin typeface="Microsoft YaHei"/>
              </a:defRPr>
            </a:pPr>
            <a:r>
              <a:t>依賴歷史數據代表性</a:t>
            </a:r>
          </a:p>
        </p:txBody>
      </p:sp>
      <p:sp>
        <p:nvSpPr>
          <p:cNvPr id="32" name="Rectangle 31"/>
          <p:cNvSpPr/>
          <p:nvPr/>
        </p:nvSpPr>
        <p:spPr>
          <a:xfrm>
            <a:off x="5760720" y="3840480"/>
            <a:ext cx="320040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52160" y="4023360"/>
            <a:ext cx="3017520" cy="457200"/>
          </a:xfrm>
          <a:prstGeom prst="rect">
            <a:avLst/>
          </a:prstGeom>
          <a:noFill/>
        </p:spPr>
        <p:txBody>
          <a:bodyPr wrap="square">
            <a:spAutoFit/>
          </a:bodyPr>
          <a:lstStyle/>
          <a:p>
            <a:pPr algn="ctr">
              <a:defRPr sz="1100" b="0">
                <a:solidFill>
                  <a:srgbClr val="64748B"/>
                </a:solidFill>
                <a:latin typeface="Microsoft YaHei"/>
              </a:defRPr>
            </a:pPr>
            <a:r>
              <a:t>假設常態可能不準確</a:t>
            </a:r>
          </a:p>
        </p:txBody>
      </p:sp>
      <p:sp>
        <p:nvSpPr>
          <p:cNvPr id="34" name="Rectangle 33"/>
          <p:cNvSpPr/>
          <p:nvPr/>
        </p:nvSpPr>
        <p:spPr>
          <a:xfrm>
            <a:off x="8961120" y="3840480"/>
            <a:ext cx="3200400" cy="8229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52560" y="4023360"/>
            <a:ext cx="3017520" cy="457200"/>
          </a:xfrm>
          <a:prstGeom prst="rect">
            <a:avLst/>
          </a:prstGeom>
          <a:noFill/>
        </p:spPr>
        <p:txBody>
          <a:bodyPr wrap="square">
            <a:spAutoFit/>
          </a:bodyPr>
          <a:lstStyle/>
          <a:p>
            <a:pPr algn="ctr">
              <a:defRPr sz="1100" b="0">
                <a:solidFill>
                  <a:srgbClr val="64748B"/>
                </a:solidFill>
                <a:latin typeface="Microsoft YaHei"/>
              </a:defRPr>
            </a:pPr>
            <a:r>
              <a:t>計算成本最高</a:t>
            </a:r>
          </a:p>
        </p:txBody>
      </p:sp>
      <p:sp>
        <p:nvSpPr>
          <p:cNvPr id="36" name="Rectangle 35"/>
          <p:cNvSpPr/>
          <p:nvPr/>
        </p:nvSpPr>
        <p:spPr>
          <a:xfrm>
            <a:off x="548640" y="4663440"/>
            <a:ext cx="2286000" cy="822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4846320"/>
            <a:ext cx="2103120" cy="457200"/>
          </a:xfrm>
          <a:prstGeom prst="rect">
            <a:avLst/>
          </a:prstGeom>
          <a:noFill/>
        </p:spPr>
        <p:txBody>
          <a:bodyPr wrap="square">
            <a:spAutoFit/>
          </a:bodyPr>
          <a:lstStyle/>
          <a:p>
            <a:pPr algn="l">
              <a:defRPr sz="1200" b="1">
                <a:solidFill>
                  <a:srgbClr val="1A1A1A"/>
                </a:solidFill>
                <a:latin typeface="Microsoft YaHei"/>
              </a:defRPr>
            </a:pPr>
            <a:r>
              <a:t>適用場景</a:t>
            </a:r>
          </a:p>
        </p:txBody>
      </p:sp>
      <p:sp>
        <p:nvSpPr>
          <p:cNvPr id="38" name="Rectangle 37"/>
          <p:cNvSpPr/>
          <p:nvPr/>
        </p:nvSpPr>
        <p:spPr>
          <a:xfrm>
            <a:off x="2834640" y="4663440"/>
            <a:ext cx="292608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26080" y="4846320"/>
            <a:ext cx="2743200" cy="457200"/>
          </a:xfrm>
          <a:prstGeom prst="rect">
            <a:avLst/>
          </a:prstGeom>
          <a:noFill/>
        </p:spPr>
        <p:txBody>
          <a:bodyPr wrap="square">
            <a:spAutoFit/>
          </a:bodyPr>
          <a:lstStyle/>
          <a:p>
            <a:pPr algn="ctr">
              <a:defRPr sz="1100" b="0">
                <a:solidFill>
                  <a:srgbClr val="64748B"/>
                </a:solidFill>
                <a:latin typeface="Microsoft YaHei"/>
              </a:defRPr>
            </a:pPr>
            <a:r>
              <a:t>日常監控、回測</a:t>
            </a:r>
          </a:p>
        </p:txBody>
      </p:sp>
      <p:sp>
        <p:nvSpPr>
          <p:cNvPr id="40" name="Rectangle 39"/>
          <p:cNvSpPr/>
          <p:nvPr/>
        </p:nvSpPr>
        <p:spPr>
          <a:xfrm>
            <a:off x="5760720" y="4663440"/>
            <a:ext cx="32004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52160" y="4846320"/>
            <a:ext cx="3017520" cy="457200"/>
          </a:xfrm>
          <a:prstGeom prst="rect">
            <a:avLst/>
          </a:prstGeom>
          <a:noFill/>
        </p:spPr>
        <p:txBody>
          <a:bodyPr wrap="square">
            <a:spAutoFit/>
          </a:bodyPr>
          <a:lstStyle/>
          <a:p>
            <a:pPr algn="ctr">
              <a:defRPr sz="1100" b="0">
                <a:solidFill>
                  <a:srgbClr val="64748B"/>
                </a:solidFill>
                <a:latin typeface="Microsoft YaHei"/>
              </a:defRPr>
            </a:pPr>
            <a:r>
              <a:t>快速估計、初步篩選</a:t>
            </a:r>
          </a:p>
        </p:txBody>
      </p:sp>
      <p:sp>
        <p:nvSpPr>
          <p:cNvPr id="42" name="Rectangle 41"/>
          <p:cNvSpPr/>
          <p:nvPr/>
        </p:nvSpPr>
        <p:spPr>
          <a:xfrm>
            <a:off x="8961120" y="4663440"/>
            <a:ext cx="320040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52560" y="4846320"/>
            <a:ext cx="3017520" cy="457200"/>
          </a:xfrm>
          <a:prstGeom prst="rect">
            <a:avLst/>
          </a:prstGeom>
          <a:noFill/>
        </p:spPr>
        <p:txBody>
          <a:bodyPr wrap="square">
            <a:spAutoFit/>
          </a:bodyPr>
          <a:lstStyle/>
          <a:p>
            <a:pPr algn="ctr">
              <a:defRPr sz="1100" b="0">
                <a:solidFill>
                  <a:srgbClr val="64748B"/>
                </a:solidFill>
                <a:latin typeface="Microsoft YaHei"/>
              </a:defRPr>
            </a:pPr>
            <a:r>
              <a:t>複雜衍生品組合</a:t>
            </a:r>
          </a:p>
        </p:txBody>
      </p:sp>
      <p:sp>
        <p:nvSpPr>
          <p:cNvPr id="44" name="Rectangle 43"/>
          <p:cNvSpPr/>
          <p:nvPr/>
        </p:nvSpPr>
        <p:spPr>
          <a:xfrm>
            <a:off x="548640" y="5486400"/>
            <a:ext cx="2286000" cy="82296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5669280"/>
            <a:ext cx="2103120" cy="457200"/>
          </a:xfrm>
          <a:prstGeom prst="rect">
            <a:avLst/>
          </a:prstGeom>
          <a:noFill/>
        </p:spPr>
        <p:txBody>
          <a:bodyPr wrap="square">
            <a:spAutoFit/>
          </a:bodyPr>
          <a:lstStyle/>
          <a:p>
            <a:pPr algn="l">
              <a:defRPr sz="1200" b="1">
                <a:solidFill>
                  <a:srgbClr val="1A1A1A"/>
                </a:solidFill>
                <a:latin typeface="Microsoft YaHei"/>
              </a:defRPr>
            </a:pPr>
            <a:r>
              <a:t>PZC 採用</a:t>
            </a:r>
          </a:p>
        </p:txBody>
      </p:sp>
      <p:sp>
        <p:nvSpPr>
          <p:cNvPr id="46" name="Rectangle 45"/>
          <p:cNvSpPr/>
          <p:nvPr/>
        </p:nvSpPr>
        <p:spPr>
          <a:xfrm>
            <a:off x="2834640" y="5486400"/>
            <a:ext cx="2926080" cy="822960"/>
          </a:xfrm>
          <a:prstGeom prst="rect">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26080" y="5669280"/>
            <a:ext cx="2743200" cy="457200"/>
          </a:xfrm>
          <a:prstGeom prst="rect">
            <a:avLst/>
          </a:prstGeom>
          <a:noFill/>
        </p:spPr>
        <p:txBody>
          <a:bodyPr wrap="square">
            <a:spAutoFit/>
          </a:bodyPr>
          <a:lstStyle/>
          <a:p>
            <a:pPr algn="ctr">
              <a:defRPr sz="1100" b="1">
                <a:solidFill>
                  <a:srgbClr val="78600F"/>
                </a:solidFill>
                <a:latin typeface="Microsoft YaHei"/>
              </a:defRPr>
            </a:pPr>
            <a:r>
              <a:t>主力方法（每日計算）</a:t>
            </a:r>
          </a:p>
        </p:txBody>
      </p:sp>
      <p:sp>
        <p:nvSpPr>
          <p:cNvPr id="48" name="Rectangle 47"/>
          <p:cNvSpPr/>
          <p:nvPr/>
        </p:nvSpPr>
        <p:spPr>
          <a:xfrm>
            <a:off x="5760720" y="5486400"/>
            <a:ext cx="3200400" cy="822960"/>
          </a:xfrm>
          <a:prstGeom prst="rect">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852160" y="5669280"/>
            <a:ext cx="3017520" cy="457200"/>
          </a:xfrm>
          <a:prstGeom prst="rect">
            <a:avLst/>
          </a:prstGeom>
          <a:noFill/>
        </p:spPr>
        <p:txBody>
          <a:bodyPr wrap="square">
            <a:spAutoFit/>
          </a:bodyPr>
          <a:lstStyle/>
          <a:p>
            <a:pPr algn="ctr">
              <a:defRPr sz="1100" b="1">
                <a:solidFill>
                  <a:srgbClr val="78600F"/>
                </a:solidFill>
                <a:latin typeface="Microsoft YaHei"/>
              </a:defRPr>
            </a:pPr>
            <a:r>
              <a:t>輔助驗證</a:t>
            </a:r>
          </a:p>
        </p:txBody>
      </p:sp>
      <p:sp>
        <p:nvSpPr>
          <p:cNvPr id="50" name="Rectangle 49"/>
          <p:cNvSpPr/>
          <p:nvPr/>
        </p:nvSpPr>
        <p:spPr>
          <a:xfrm>
            <a:off x="8961120" y="5486400"/>
            <a:ext cx="3200400" cy="822960"/>
          </a:xfrm>
          <a:prstGeom prst="rect">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52560" y="5669280"/>
            <a:ext cx="3017520" cy="457200"/>
          </a:xfrm>
          <a:prstGeom prst="rect">
            <a:avLst/>
          </a:prstGeom>
          <a:noFill/>
        </p:spPr>
        <p:txBody>
          <a:bodyPr wrap="square">
            <a:spAutoFit/>
          </a:bodyPr>
          <a:lstStyle/>
          <a:p>
            <a:pPr algn="ctr">
              <a:defRPr sz="1100" b="1">
                <a:solidFill>
                  <a:srgbClr val="78600F"/>
                </a:solidFill>
                <a:latin typeface="Microsoft YaHei"/>
              </a:defRPr>
            </a:pPr>
            <a:r>
              <a:t>月度深度分析</a:t>
            </a:r>
          </a:p>
        </p:txBody>
      </p:sp>
      <p:sp>
        <p:nvSpPr>
          <p:cNvPr id="52" name="Rectangle 51"/>
          <p:cNvSpPr/>
          <p:nvPr/>
        </p:nvSpPr>
        <p:spPr>
          <a:xfrm>
            <a:off x="0" y="6803136"/>
            <a:ext cx="12191695"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3200400"/>
          </a:xfrm>
          <a:prstGeom prst="rect">
            <a:avLst/>
          </a:prstGeom>
          <a:noFill/>
        </p:spPr>
        <p:txBody>
          <a:bodyPr wrap="square">
            <a:spAutoFit/>
          </a:bodyPr>
          <a:lstStyle/>
          <a:p>
            <a:pPr algn="ctr">
              <a:spcAft>
                <a:spcPts val="1000"/>
              </a:spcAft>
              <a:defRPr sz="1800" b="1">
                <a:solidFill>
                  <a:srgbClr val="C9A84C"/>
                </a:solidFill>
                <a:latin typeface="Microsoft YaHei"/>
              </a:defRPr>
            </a:pPr>
            <a:r>
              <a:t>PZC Group</a:t>
            </a:r>
          </a:p>
          <a:p>
            <a:pPr algn="ctr">
              <a:spcAft>
                <a:spcPts val="1000"/>
              </a:spcAft>
              <a:defRPr sz="4000" b="1">
                <a:solidFill>
                  <a:srgbClr val="FFFFFF"/>
                </a:solidFill>
                <a:latin typeface="Microsoft YaHei"/>
              </a:defRPr>
            </a:pPr>
            <a:r>
              <a:t>FX Risk Modelling</a:t>
            </a:r>
          </a:p>
          <a:p>
            <a:pPr algn="ctr">
              <a:spcAft>
                <a:spcPts val="2000"/>
              </a:spcAft>
              <a:defRPr sz="2000" b="0">
                <a:solidFill>
                  <a:srgbClr val="CBD5E1"/>
                </a:solidFill>
                <a:latin typeface="Microsoft YaHei"/>
              </a:defRPr>
            </a:pPr>
            <a:r>
              <a:t>對沖策略 &amp; 風險估值</a:t>
            </a:r>
          </a:p>
          <a:p>
            <a:pPr algn="ctr">
              <a:spcAft>
                <a:spcPts val="600"/>
              </a:spcAft>
              <a:defRPr sz="1400" b="0">
                <a:solidFill>
                  <a:srgbClr val="64748B"/>
                </a:solidFill>
                <a:latin typeface="Microsoft YaHei"/>
              </a:defRPr>
            </a:pPr>
            <a:r>
              <a:t>如需了解更多詳情，歡迎聯繫我們</a:t>
            </a:r>
          </a:p>
          <a:p>
            <a:pPr algn="ctr">
              <a:spcAft>
                <a:spcPts val="0"/>
              </a:spcAft>
              <a:defRPr sz="1200" b="0">
                <a:solidFill>
                  <a:srgbClr val="94A3B8"/>
                </a:solidFill>
                <a:latin typeface="Microsoft YaHei"/>
              </a:defRPr>
            </a:pPr>
            <a:r>
              <a:t>（請在此處填入聯繫方式）</a:t>
            </a:r>
          </a:p>
        </p:txBody>
      </p:sp>
      <p:sp>
        <p:nvSpPr>
          <p:cNvPr id="4" name="Rectangle 3"/>
          <p:cNvSpPr/>
          <p:nvPr/>
        </p:nvSpPr>
        <p:spPr>
          <a:xfrm>
            <a:off x="0" y="6400800"/>
            <a:ext cx="12191695"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6492240"/>
            <a:ext cx="10058400" cy="274320"/>
          </a:xfrm>
          <a:prstGeom prst="rect">
            <a:avLst/>
          </a:prstGeom>
          <a:noFill/>
        </p:spPr>
        <p:txBody>
          <a:bodyPr wrap="square">
            <a:spAutoFit/>
          </a:bodyPr>
          <a:lstStyle/>
          <a:p>
            <a:pPr algn="ctr">
              <a:defRPr sz="1000" b="0">
                <a:solidFill>
                  <a:srgbClr val="64748B"/>
                </a:solidFill>
                <a:latin typeface="Microsoft YaHei"/>
              </a:defRPr>
            </a:pPr>
            <a:r>
              <a:t>百盛大通  |  专业外汇风险管理服务</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