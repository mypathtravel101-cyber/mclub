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9A84C"/>
                </a:solidFill>
                <a:latin typeface="Sarasa Mono SC"/>
              </a:defRPr>
            </a:pPr>
            <a:r>
              <a:t>MCLUB FX RISK MODELING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arasa Mono SC"/>
              </a:defRPr>
            </a:pPr>
            <a:r>
              <a:t>日本物業投資 — 雙變量壓力測試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Sarasa Mono SC"/>
              </a:defRPr>
            </a:pPr>
            <a:r>
              <a:t>2-Variable Stress Test: FX Rate x Property Value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4114800" cy="15544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6177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CONSTANT 固定數據</a:t>
            </a:r>
            <a:br/>
            <a:br/>
            <a:r>
              <a:t>物業: HKD 4,000,000 (JPY 78M)</a:t>
            </a:r>
            <a:br/>
            <a:r>
              <a:t>按提: 40% LTV @ 3% p.a.</a:t>
            </a:r>
            <a:br/>
            <a:r>
              <a:t>期限: 15年 (45→60歲)</a:t>
            </a:r>
            <a:br/>
            <a:r>
              <a:t>月供: JPY 215,461</a:t>
            </a:r>
            <a:br/>
            <a:r>
              <a:t>年租金: JPY 4,680,000 (6%)</a:t>
            </a:r>
            <a:br/>
            <a:r>
              <a:t>客戶投入: HKD 2,400,000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572000"/>
            <a:ext cx="4114800" cy="155448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61772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F2E8"/>
                </a:solidFill>
                <a:latin typeface="Sarasa Mono SC"/>
              </a:defRPr>
            </a:pPr>
            <a:r>
              <a:t>VARIABLE 變量數據</a:t>
            </a:r>
            <a:br/>
            <a:br/>
            <a:r>
              <a:t>Variable 1: FX Rate (JPY/HKD)</a:t>
            </a:r>
            <a:br/>
            <a:r>
              <a:t>  12個情景: T1/T2/T3 + 歷史</a:t>
            </a:r>
            <a:br/>
            <a:r>
              <a:t>  範圍: JPY +25% ~ -31%</a:t>
            </a:r>
            <a:br/>
            <a:br/>
            <a:r>
              <a:t>Variable 2: Property Value</a:t>
            </a:r>
            <a:br/>
            <a:r>
              <a:t>  7個情景: 崩盤~增長+80%</a:t>
            </a:r>
            <a:br/>
            <a:r>
              <a:t>  範圍: 15年 -30% ~ +80%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雙變量壓力測試 — 84個情景年化回報矩陣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11795760" cy="51206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6080760"/>
            <a:ext cx="3474720" cy="457200"/>
          </a:xfrm>
          <a:prstGeom prst="round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108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Sarasa Mono SC"/>
              </a:defRPr>
            </a:pPr>
            <a:r>
              <a:t>最差情景: 2.2% 年化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6080760"/>
            <a:ext cx="3474720" cy="457200"/>
          </a:xfrm>
          <a:prstGeom prst="roundRect">
            <a:avLst/>
          </a:prstGeom>
          <a:solidFill>
            <a:srgbClr val="2C2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61081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ECC71"/>
                </a:solidFill>
                <a:latin typeface="Sarasa Mono SC"/>
              </a:defRPr>
            </a:pPr>
            <a:r>
              <a:t>虫本情景: 0/84 (0%)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6080760"/>
            <a:ext cx="3566160" cy="457200"/>
          </a:xfrm>
          <a:prstGeom prst="roundRect">
            <a:avLst/>
          </a:prstGeom>
          <a:solidFill>
            <a:srgbClr val="1A3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61081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C9A84C"/>
                </a:solidFill>
                <a:latin typeface="Sarasa Mono SC"/>
              </a:defRPr>
            </a:pPr>
            <a:r>
              <a:t>基準情景: 5.83% 年化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不同房價情景下的匯率敏感度曲線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盈虧平衡風險地圖 — FX Rate x Property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ess_2var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61288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壓力測試完整結果表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960120"/>
          <a:ext cx="118872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  <a:gridCol w="88392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房價\匯率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JPY升+25%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JPY升+20%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JPY升+15%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JPY升+10%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JPY升+5%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基準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JPY貶-10%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JPY貶-15%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JPY貶-20%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JPY貶-30%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2022危機-31%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崩盤 -30%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6.08%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5.62%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5.19%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4.79%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4.42%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4.06%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3.72%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3.40%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3.09%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2.80%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2.26%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E74C3C"/>
                          </a:solidFill>
                          <a:latin typeface="Sarasa Mono SC"/>
                        </a:defRPr>
                      </a:pPr>
                      <a:r>
                        <a:t>2.20%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下跌 -15%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7.06%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6.60%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6.17%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5.77%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5.39%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5.03%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4.69%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4.36%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4.05%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3.76%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3.21%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3.15%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持平 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7.87%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7.41%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6.98%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6.57%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6.19%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5.83%</a:t>
                      </a:r>
                    </a:p>
                  </a:txBody>
                  <a:tcPr>
                    <a:solidFill>
                      <a:srgbClr val="3A35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5.48%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5.15%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4.84%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4.55%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3.99%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3.94%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+15%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8.61%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8.14%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7.71%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7.30%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6.91%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6.55%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6.20%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5.87%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5.56%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5.26%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4.70%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F39C12"/>
                          </a:solidFill>
                          <a:latin typeface="Sarasa Mono SC"/>
                        </a:defRPr>
                      </a:pPr>
                      <a:r>
                        <a:t>4.65%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+30%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9.28%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8.81%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8.37%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7.96%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7.57%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7.21%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6.86%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6.53%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6.21%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5.91%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5.35%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C9A84C"/>
                          </a:solidFill>
                          <a:latin typeface="Sarasa Mono SC"/>
                        </a:defRPr>
                      </a:pPr>
                      <a:r>
                        <a:t>5.29%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+50%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10.09%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9.62%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9.17%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8.76%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8.37%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8.00%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7.65%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7.31%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7.00%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6.69%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6.13%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6.07%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Sarasa Mono SC"/>
                        </a:defRPr>
                      </a:pPr>
                      <a:r>
                        <a:t>增長 +80%</a:t>
                      </a:r>
                    </a:p>
                  </a:txBody>
                  <a:tcPr>
                    <a:solidFill>
                      <a:srgbClr val="2525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11.15%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10.68%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10.23%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9.81%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9.42%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9.04%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8.69%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8.35%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2ECC71"/>
                          </a:solidFill>
                          <a:latin typeface="Sarasa Mono SC"/>
                        </a:defRPr>
                      </a:pPr>
                      <a:r>
                        <a:t>8.03%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7.73%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7.15%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82E0AA"/>
                          </a:solidFill>
                          <a:latin typeface="Sarasa Mono SC"/>
                        </a:defRPr>
                      </a:pPr>
                      <a:r>
                        <a:t>7.10%</a:t>
                      </a:r>
                    </a:p>
                  </a:txBody>
                  <a:tcPr>
                    <a:solidFill>
                      <a:srgbClr val="20222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Sarasa Mono SC"/>
              </a:defRPr>
            </a:pPr>
            <a:r>
              <a:t>壓力測試結論與風險評估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381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6858000" cy="8229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Sarasa Mono SC"/>
              </a:defRPr>
            </a:pPr>
            <a:r>
              <a:t>測試範圍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12個匯率情景 x 7個房價情景 = 84個壓力測試情景</a:t>
            </a:r>
            <a:br/>
            <a:r>
              <a:t>覆蓋MCLUB三層架構（T1/T2/T3）+ 2022歷史參照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6858000" cy="8229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Sarasa Mono SC"/>
              </a:defRPr>
            </a:pPr>
            <a:r>
              <a:t>零虫本概率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全部84個情景均錄得正回報，最差年化仍達2.20%</a:t>
            </a:r>
            <a:br/>
            <a:r>
              <a:t>即使房價崩盤30% + 日圃貶值31%同時發生，投資仍可保本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6858000" cy="8229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84C"/>
                </a:solidFill>
                <a:latin typeface="Sarasa Mono SC"/>
              </a:defRPr>
            </a:pPr>
            <a:r>
              <a:t>基準情景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房價持平 + 現匯率 = 年化5.83%（純租金）</a:t>
            </a:r>
            <a:br/>
            <a:r>
              <a:t>若房價年增3% + 現匯率 = 年化8.21%（含資本增值）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6858000" cy="8229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  <a:latin typeface="Sarasa Mono SC"/>
              </a:defRPr>
            </a:pPr>
            <a:r>
              <a:t>自然對沖效應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776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日圃按提+日圃租金形成幣種匹配對沖</a:t>
            </a:r>
            <a:br/>
            <a:r>
              <a:t>匯率風險僅影響淨租金及套現價值，非全部物業價值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26280"/>
            <a:ext cx="6858000" cy="8229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98DB"/>
                </a:solidFill>
                <a:latin typeface="Sarasa Mono SC"/>
              </a:defRPr>
            </a:pPr>
            <a:r>
              <a:t>槓極安全邊際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463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40% LTV提供充足緩衝，物業需貶值超60%才觸及貸款安全線</a:t>
            </a:r>
            <a:br/>
            <a:r>
              <a:t>按提本金償還持續降低貸款餘額，15年後完全清償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94960"/>
            <a:ext cx="6858000" cy="82296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  <a:latin typeface="Sarasa Mono SC"/>
              </a:defRPr>
            </a:pPr>
            <a:r>
              <a:t>雙重風險最差情景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5F2E8"/>
                </a:solidFill>
                <a:latin typeface="Sarasa Mono SC"/>
              </a:defRPr>
            </a:pPr>
            <a:r>
              <a:t>房價-30% + JPY貶31%（2022危機）</a:t>
            </a:r>
            <a:br/>
            <a:r>
              <a:t>年化2.20%，15年總ROI +38.8%，仍大幅跑贏通脲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051560"/>
            <a:ext cx="4114800" cy="5029200"/>
          </a:xfrm>
          <a:prstGeom prst="roundRect">
            <a:avLst/>
          </a:prstGeom>
          <a:solidFill>
            <a:srgbClr val="2C3E50"/>
          </a:solidFill>
          <a:ln w="2540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11430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9A84C"/>
                </a:solidFill>
                <a:latin typeface="Sarasa Mono SC"/>
              </a:defRPr>
            </a:pPr>
            <a:r>
              <a:t>風險評級總結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600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整體風險等級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85623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LOW-MODERATE</a:t>
            </a:r>
            <a:br/>
            <a:r>
              <a:t>中等偏低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5000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FX風險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0604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2E0AA"/>
                </a:solidFill>
                <a:latin typeface="Sarasa Mono SC"/>
              </a:defRPr>
            </a:pPr>
            <a:r>
              <a:t>MITIGATED</a:t>
            </a:r>
            <a:br/>
            <a:r>
              <a:t>已被自然對沖緩解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0998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房價風險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35584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9A84C"/>
                </a:solidFill>
                <a:latin typeface="Sarasa Mono SC"/>
              </a:defRPr>
            </a:pPr>
            <a:r>
              <a:t>LOW-MODERATE</a:t>
            </a:r>
            <a:br/>
            <a:r>
              <a:t>15年長期持有分散風險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38496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利率風險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105656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Sarasa Mono SC"/>
              </a:defRPr>
            </a:pPr>
            <a:r>
              <a:t>LOW</a:t>
            </a:r>
            <a:br/>
            <a:r>
              <a:t>日本3%處歷史低位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59943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流動性風險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855464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39C12"/>
                </a:solidFill>
                <a:latin typeface="Sarasa Mono SC"/>
              </a:defRPr>
            </a:pPr>
            <a:r>
              <a:t>MODERATE</a:t>
            </a:r>
            <a:br/>
            <a:r>
              <a:t>日本物業流動性偏低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349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5A5A6"/>
                </a:solidFill>
                <a:latin typeface="Sarasa Mono SC"/>
              </a:defRPr>
            </a:pPr>
            <a:r>
              <a:t>建議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605272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Sarasa Mono SC"/>
              </a:defRPr>
            </a:pPr>
            <a:r>
              <a:t>適用MCLUB進階版</a:t>
            </a:r>
            <a:br/>
            <a:r>
              <a:t>(Advanced)服務層級</a:t>
            </a:r>
            <a:br/>
            <a:r>
              <a:t>HK$128,000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5A5A6"/>
                </a:solidFill>
                <a:latin typeface="Sarasa Mono SC"/>
              </a:defRPr>
            </a:pPr>
            <a:r>
              <a:t>PZC Group 百盛大通 — MCLUB FX Risk Modeling Service | 雙變量壓力測試報告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