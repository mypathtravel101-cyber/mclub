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C9A84C"/>
                </a:solidFill>
                <a:latin typeface="Sarasa Mono SC"/>
              </a:defRPr>
            </a:pPr>
            <a:r>
              <a:t>PZC GROUP 百盛大通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1828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100" b="0">
                <a:solidFill>
                  <a:srgbClr val="7A7870"/>
                </a:solidFill>
                <a:latin typeface="Sarasa Mono SC"/>
              </a:defRPr>
            </a:pPr>
            <a:r>
              <a:t>Confidential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FFFFFF"/>
                </a:solidFill>
                <a:latin typeface="Sarasa Mono SC"/>
              </a:defRPr>
            </a:pPr>
            <a:r>
              <a:t>日本物業投資 — 投資架構與回報分析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A7870"/>
                </a:solidFill>
                <a:latin typeface="Sarasa Mono SC"/>
              </a:defRPr>
            </a:pPr>
            <a:r>
              <a:t>Japan Property Investment — Structure &amp; Return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828800"/>
            <a:ext cx="10362895" cy="12700"/>
          </a:xfrm>
          <a:prstGeom prst="rect">
            <a:avLst/>
          </a:prstGeom>
          <a:solidFill>
            <a:srgbClr val="3A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3A6EA5"/>
                </a:solidFill>
                <a:latin typeface="Sarasa Mono SC"/>
              </a:defRPr>
            </a:pPr>
            <a:r>
              <a:t>投資結構 Investment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50" b="0">
                <a:solidFill>
                  <a:srgbClr val="D0CEC4"/>
                </a:solidFill>
                <a:latin typeface="Sarasa Mono SC"/>
              </a:defRPr>
            </a:pPr>
            <a:r>
              <a:t>物業價值 Property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68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050" b="1">
                <a:solidFill>
                  <a:srgbClr val="FFFFFF"/>
                </a:solidFill>
                <a:latin typeface="Sarasa Mono SC"/>
              </a:defRPr>
            </a:pPr>
            <a:r>
              <a:t>HKD 4,000,000  (JPY 78,000,000)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249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7A7870"/>
                </a:solidFill>
                <a:latin typeface="Sarasa Mono SC"/>
              </a:defRPr>
            </a:pPr>
            <a:r>
              <a:t>基準匯率 19.5 JPY/HKD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50" b="0">
                <a:solidFill>
                  <a:srgbClr val="D0CEC4"/>
                </a:solidFill>
                <a:latin typeface="Sarasa Mono SC"/>
              </a:defRPr>
            </a:pPr>
            <a:r>
              <a:t>首期投入 Down Payment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063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050" b="1">
                <a:solidFill>
                  <a:srgbClr val="FFFFFF"/>
                </a:solidFill>
                <a:latin typeface="Sarasa Mono SC"/>
              </a:defRPr>
            </a:pPr>
            <a:r>
              <a:t>HKD 2,400,000  (60%)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192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7A7870"/>
                </a:solidFill>
                <a:latin typeface="Sarasa Mono SC"/>
              </a:defRPr>
            </a:pPr>
            <a:r>
              <a:t>客戶實際資金投入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50" b="0">
                <a:solidFill>
                  <a:srgbClr val="D0CEC4"/>
                </a:solidFill>
                <a:latin typeface="Sarasa Mono SC"/>
              </a:defRPr>
            </a:pPr>
            <a:r>
              <a:t>銀行按揭 Mortgage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657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050" b="1">
                <a:solidFill>
                  <a:srgbClr val="FFFFFF"/>
                </a:solidFill>
                <a:latin typeface="Sarasa Mono SC"/>
              </a:defRPr>
            </a:pPr>
            <a:r>
              <a:t>JPY 31,200,000  (40% LTV)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1363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7A7870"/>
                </a:solidFill>
                <a:latin typeface="Sarasa Mono SC"/>
              </a:defRPr>
            </a:pPr>
            <a:r>
              <a:t>日本銀行 3.0% p.a.  |  15年期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51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50" b="0">
                <a:solidFill>
                  <a:srgbClr val="D0CEC4"/>
                </a:solidFill>
                <a:latin typeface="Sarasa Mono SC"/>
              </a:defRPr>
            </a:pPr>
            <a:r>
              <a:t>月供款 Monthly Payment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251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050" b="1">
                <a:solidFill>
                  <a:srgbClr val="FFFFFF"/>
                </a:solidFill>
                <a:latin typeface="Sarasa Mono SC"/>
              </a:defRPr>
            </a:pPr>
            <a:r>
              <a:t>JPY 215,461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079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7A7870"/>
                </a:solidFill>
                <a:latin typeface="Sarasa Mono SC"/>
              </a:defRPr>
            </a:pPr>
            <a:r>
              <a:t>到期日：客戶60歲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50" b="0">
                <a:solidFill>
                  <a:srgbClr val="D0CEC4"/>
                </a:solidFill>
                <a:latin typeface="Sarasa Mono SC"/>
              </a:defRPr>
            </a:pPr>
            <a:r>
              <a:t>年租金收入 Gross Rental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846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050" b="1">
                <a:solidFill>
                  <a:srgbClr val="FFFFFF"/>
                </a:solidFill>
                <a:latin typeface="Sarasa Mono SC"/>
              </a:defRPr>
            </a:pPr>
            <a:r>
              <a:t>JPY 4,680,000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10235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7A7870"/>
                </a:solidFill>
                <a:latin typeface="Sarasa Mono SC"/>
              </a:defRPr>
            </a:pPr>
            <a:r>
              <a:t>物業價值 x 6% 毛租金回報率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011680"/>
            <a:ext cx="12700" cy="3931920"/>
          </a:xfrm>
          <a:prstGeom prst="rect">
            <a:avLst/>
          </a:prstGeom>
          <a:solidFill>
            <a:srgbClr val="3A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3A6EA5"/>
                </a:solidFill>
                <a:latin typeface="Sarasa Mono SC"/>
              </a:defRPr>
            </a:pPr>
            <a:r>
              <a:t>關鍵指標 Key Metrics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560320"/>
            <a:ext cx="5029200" cy="1051560"/>
          </a:xfrm>
          <a:prstGeom prst="roundRect">
            <a:avLst/>
          </a:prstGeom>
          <a:solidFill>
            <a:srgbClr val="262830"/>
          </a:solidFill>
          <a:ln w="12700">
            <a:solidFill>
              <a:srgbClr val="3A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6334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D0CEC4"/>
                </a:solidFill>
                <a:latin typeface="Sarasa Mono SC"/>
              </a:defRPr>
            </a:pPr>
            <a:r>
              <a:t>年淨租金收入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880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7A7870"/>
                </a:solidFill>
                <a:latin typeface="Sarasa Mono SC"/>
              </a:defRPr>
            </a:pPr>
            <a:r>
              <a:t>扣除按揭後實際現金回報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26517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400" b="1">
                <a:solidFill>
                  <a:srgbClr val="FFFFFF"/>
                </a:solidFill>
                <a:latin typeface="Sarasa Mono SC"/>
              </a:defRPr>
            </a:pPr>
            <a:r>
              <a:t>HKD 107,408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063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3A6EA5"/>
                </a:solidFill>
                <a:latin typeface="Sarasa Mono SC"/>
              </a:defRPr>
            </a:pPr>
            <a:r>
              <a:t>4.48%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749040"/>
            <a:ext cx="5029200" cy="1051560"/>
          </a:xfrm>
          <a:prstGeom prst="roundRect">
            <a:avLst/>
          </a:prstGeom>
          <a:solidFill>
            <a:srgbClr val="262830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82219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D0CEC4"/>
                </a:solidFill>
                <a:latin typeface="Sarasa Mono SC"/>
              </a:defRPr>
            </a:pPr>
            <a:r>
              <a:t>按揭本金償還（權益增長）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069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7A7870"/>
                </a:solidFill>
                <a:latin typeface="Sarasa Mono SC"/>
              </a:defRPr>
            </a:pPr>
            <a:r>
              <a:t>銀行代為償還之本金部份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38404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400" b="1">
                <a:solidFill>
                  <a:srgbClr val="FFFFFF"/>
                </a:solidFill>
                <a:latin typeface="Sarasa Mono SC"/>
              </a:defRPr>
            </a:pPr>
            <a:r>
              <a:t>HKD 106,667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4251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2E86AB"/>
                </a:solidFill>
                <a:latin typeface="Sarasa Mono SC"/>
              </a:defRPr>
            </a:pPr>
            <a:r>
              <a:t>+4.44%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4937760"/>
            <a:ext cx="5029200" cy="1051560"/>
          </a:xfrm>
          <a:prstGeom prst="roundRect">
            <a:avLst/>
          </a:prstGeom>
          <a:solidFill>
            <a:srgbClr val="262830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50109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D0CEC4"/>
                </a:solidFill>
                <a:latin typeface="Sarasa Mono SC"/>
              </a:defRPr>
            </a:pPr>
            <a:r>
              <a:t>綜合年回報率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257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7A7870"/>
                </a:solidFill>
                <a:latin typeface="Sarasa Mono SC"/>
              </a:defRPr>
            </a:pPr>
            <a:r>
              <a:t>現金回報 + 權益增長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50292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400" b="1">
                <a:solidFill>
                  <a:srgbClr val="FFFFFF"/>
                </a:solidFill>
                <a:latin typeface="Sarasa Mono SC"/>
              </a:defRPr>
            </a:pPr>
            <a:r>
              <a:t>HKD 214,075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5440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C9A84C"/>
                </a:solidFill>
                <a:latin typeface="Sarasa Mono SC"/>
              </a:defRPr>
            </a:pPr>
            <a:r>
              <a:t>8.92%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943600"/>
            <a:ext cx="10698480" cy="365760"/>
          </a:xfrm>
          <a:prstGeom prst="roundRect">
            <a:avLst/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96188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7A7870"/>
                </a:solidFill>
                <a:latin typeface="Sarasa Mono SC"/>
              </a:defRPr>
            </a:pPr>
            <a:r>
              <a:t>註：綜合年回報率 = 淨租金現金回報率 + 按揭本金償還帶來之物業權益增長率  |  基準匯率情景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7A7870"/>
                </a:solidFill>
                <a:latin typeface="Sarasa Mono SC"/>
              </a:defRPr>
            </a:pPr>
            <a:r>
              <a:t>PZC Group 百盛大通 — Confidential  |  日本物業投資分析報告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C9A84C"/>
                </a:solidFill>
                <a:latin typeface="Sarasa Mono SC"/>
              </a:defRPr>
            </a:pPr>
            <a:r>
              <a:t>PZC GROUP 百盛大通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1828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100" b="0">
                <a:solidFill>
                  <a:srgbClr val="7A7870"/>
                </a:solidFill>
                <a:latin typeface="Sarasa Mono SC"/>
              </a:defRPr>
            </a:pPr>
            <a:r>
              <a:t>回報分析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FFFFFF"/>
                </a:solidFill>
                <a:latin typeface="Sarasa Mono SC"/>
              </a:defRPr>
            </a:pPr>
            <a:r>
              <a:t>投資回報來源分解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7A7870"/>
                </a:solidFill>
                <a:latin typeface="Sarasa Mono SC"/>
              </a:defRPr>
            </a:pPr>
            <a:r>
              <a:t>基準情景  |  客戶投入 HKD 2,400,000  |  基準匯率 19.5 JPY/HKD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828800"/>
            <a:ext cx="10362895" cy="12700"/>
          </a:xfrm>
          <a:prstGeom prst="rect">
            <a:avLst/>
          </a:prstGeom>
          <a:solidFill>
            <a:srgbClr val="3A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turn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65960"/>
            <a:ext cx="11612880" cy="4114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6080760"/>
            <a:ext cx="10698480" cy="320040"/>
          </a:xfrm>
          <a:prstGeom prst="roundRect">
            <a:avLst/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099048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1">
                <a:solidFill>
                  <a:srgbClr val="C9A84C"/>
                </a:solidFill>
                <a:latin typeface="Sarasa Mono SC"/>
              </a:defRPr>
            </a:pPr>
            <a:r>
              <a:t>關鍵發現：按揭本金償還（權益增長）佔綜合回報之50%，此為槓杆投資之核心優勢 — 投資者以較少資金獲取更大資產之回報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7A7870"/>
                </a:solidFill>
                <a:latin typeface="Sarasa Mono SC"/>
              </a:defRPr>
            </a:pPr>
            <a:r>
              <a:t>PZC Group 百盛大通 — Confidential  |  日本物業投資分析報告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C9A84C"/>
                </a:solidFill>
                <a:latin typeface="Sarasa Mono SC"/>
              </a:defRPr>
            </a:pPr>
            <a:r>
              <a:t>PZC GROUP 百盛大通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1828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100" b="0">
                <a:solidFill>
                  <a:srgbClr val="7A7870"/>
                </a:solidFill>
                <a:latin typeface="Sarasa Mono SC"/>
              </a:defRPr>
            </a:pPr>
            <a:r>
              <a:t>回報預測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FFFFFF"/>
                </a:solidFill>
                <a:latin typeface="Sarasa Mono SC"/>
              </a:defRPr>
            </a:pPr>
            <a:r>
              <a:t>15年投資回報預測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7A7870"/>
                </a:solidFill>
                <a:latin typeface="Sarasa Mono SC"/>
              </a:defRPr>
            </a:pPr>
            <a:r>
              <a:t>假設匯率不變，測試不同物業資本增值情景下之總回報  |  客戶投入 HKD 2,400,000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828800"/>
            <a:ext cx="10362895" cy="12700"/>
          </a:xfrm>
          <a:prstGeom prst="rect">
            <a:avLst/>
          </a:prstGeom>
          <a:solidFill>
            <a:srgbClr val="3A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2011680"/>
            <a:ext cx="3657600" cy="411480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C8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3474720" cy="457200"/>
          </a:xfrm>
          <a:prstGeom prst="roundRect">
            <a:avLst/>
          </a:prstGeom>
          <a:solidFill>
            <a:srgbClr val="C8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2140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  <a:latin typeface="Sarasa Mono SC"/>
              </a:defRPr>
            </a:pPr>
            <a:r>
              <a:t>保守情景  Conservative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97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7A7870"/>
                </a:solidFill>
                <a:latin typeface="Sarasa Mono SC"/>
              </a:defRPr>
            </a:pPr>
            <a:r>
              <a:t>物業年跌幅 -2%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089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D0CEC4"/>
                </a:solidFill>
                <a:latin typeface="Sarasa Mono SC"/>
              </a:defRPr>
            </a:pPr>
            <a:r>
              <a:t>15年總回報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375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800" b="1">
                <a:solidFill>
                  <a:srgbClr val="FFFFFF"/>
                </a:solidFill>
                <a:latin typeface="Sarasa Mono SC"/>
              </a:defRPr>
            </a:pPr>
            <a:r>
              <a:t>HKD 3,585,880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77639"/>
            <a:ext cx="1463040" cy="731520"/>
          </a:xfrm>
          <a:prstGeom prst="roundRect">
            <a:avLst/>
          </a:prstGeom>
          <a:solidFill>
            <a:srgbClr val="26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9592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7A7870"/>
                </a:solidFill>
                <a:latin typeface="Sarasa Mono SC"/>
              </a:defRPr>
            </a:pPr>
            <a:r>
              <a:t>年化回報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200" b="1">
                <a:solidFill>
                  <a:srgbClr val="C87A2A"/>
                </a:solidFill>
                <a:latin typeface="Sarasa Mono SC"/>
              </a:defRPr>
            </a:pPr>
            <a:r>
              <a:t>4.38%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3977639"/>
            <a:ext cx="1463040" cy="731520"/>
          </a:xfrm>
          <a:prstGeom prst="roundRect">
            <a:avLst/>
          </a:prstGeom>
          <a:solidFill>
            <a:srgbClr val="26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399592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7A7870"/>
                </a:solidFill>
                <a:latin typeface="Sarasa Mono SC"/>
              </a:defRPr>
            </a:pPr>
            <a:r>
              <a:t>總ROI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206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200" b="1">
                <a:solidFill>
                  <a:srgbClr val="FFFFFF"/>
                </a:solidFill>
                <a:latin typeface="Sarasa Mono SC"/>
              </a:defRPr>
            </a:pPr>
            <a:r>
              <a:t>+49.4%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46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50" b="0">
                <a:solidFill>
                  <a:srgbClr val="D0CEC4"/>
                </a:solidFill>
                <a:latin typeface="Sarasa Mono SC"/>
              </a:defRPr>
            </a:pPr>
            <a:r>
              <a:t>假設物業價格每年微跌2%，</a:t>
            </a:r>
            <a:br/>
            <a:r>
              <a:t>15年累計貶值約26%。</a:t>
            </a:r>
            <a:br/>
            <a:r>
              <a:t>即使在此悲觀假設下，</a:t>
            </a:r>
            <a:br/>
            <a:r>
              <a:t>投資仍錄得正回報。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2011680"/>
            <a:ext cx="3657600" cy="411480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3A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89120" y="2103120"/>
            <a:ext cx="3474720" cy="457200"/>
          </a:xfrm>
          <a:prstGeom prst="round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212140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  <a:latin typeface="Sarasa Mono SC"/>
              </a:defRPr>
            </a:pPr>
            <a:r>
              <a:t>基準情景  Base Case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697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7A7870"/>
                </a:solidFill>
                <a:latin typeface="Sarasa Mono SC"/>
              </a:defRPr>
            </a:pPr>
            <a:r>
              <a:t>物業價格不變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1089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D0CEC4"/>
                </a:solidFill>
                <a:latin typeface="Sarasa Mono SC"/>
              </a:defRPr>
            </a:pPr>
            <a:r>
              <a:t>15年總回報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3375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800" b="1">
                <a:solidFill>
                  <a:srgbClr val="FFFFFF"/>
                </a:solidFill>
                <a:latin typeface="Sarasa Mono SC"/>
              </a:defRPr>
            </a:pPr>
            <a:r>
              <a:t>HKD 5,611,125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3977639"/>
            <a:ext cx="1463040" cy="731520"/>
          </a:xfrm>
          <a:prstGeom prst="roundRect">
            <a:avLst/>
          </a:prstGeom>
          <a:solidFill>
            <a:srgbClr val="26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399592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7A7870"/>
                </a:solidFill>
                <a:latin typeface="Sarasa Mono SC"/>
              </a:defRPr>
            </a:pPr>
            <a:r>
              <a:t>年化回報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206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200" b="1">
                <a:solidFill>
                  <a:srgbClr val="3A6EA5"/>
                </a:solidFill>
                <a:latin typeface="Sarasa Mono SC"/>
              </a:defRPr>
            </a:pPr>
            <a:r>
              <a:t>5.83%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977639"/>
            <a:ext cx="1463040" cy="731520"/>
          </a:xfrm>
          <a:prstGeom prst="roundRect">
            <a:avLst/>
          </a:prstGeom>
          <a:solidFill>
            <a:srgbClr val="26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399592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7A7870"/>
                </a:solidFill>
                <a:latin typeface="Sarasa Mono SC"/>
              </a:defRPr>
            </a:pPr>
            <a:r>
              <a:t>總ROI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206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200" b="1">
                <a:solidFill>
                  <a:srgbClr val="FFFFFF"/>
                </a:solidFill>
                <a:latin typeface="Sarasa Mono SC"/>
              </a:defRPr>
            </a:pPr>
            <a:r>
              <a:t>+133.8%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846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50" b="0">
                <a:solidFill>
                  <a:srgbClr val="D0CEC4"/>
                </a:solidFill>
                <a:latin typeface="Sarasa Mono SC"/>
              </a:defRPr>
            </a:pPr>
            <a:r>
              <a:t>假設物業價格維持不變，</a:t>
            </a:r>
            <a:br/>
            <a:r>
              <a:t>僅依賴租金收入及按揭</a:t>
            </a:r>
            <a:br/>
            <a:r>
              <a:t>本金償還所帶來之回報。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2011680"/>
            <a:ext cx="3657600" cy="411480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45A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321040" y="2103120"/>
            <a:ext cx="3474720" cy="457200"/>
          </a:xfrm>
          <a:prstGeom prst="roundRect">
            <a:avLst/>
          </a:prstGeom>
          <a:solidFill>
            <a:srgbClr val="45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212140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  <a:latin typeface="Sarasa Mono SC"/>
              </a:defRPr>
            </a:pPr>
            <a:r>
              <a:t>增長情景  Growth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2697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7A7870"/>
                </a:solidFill>
                <a:latin typeface="Sarasa Mono SC"/>
              </a:defRPr>
            </a:pPr>
            <a:r>
              <a:t>物業年增幅 +3%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31089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D0CEC4"/>
                </a:solidFill>
                <a:latin typeface="Sarasa Mono SC"/>
              </a:defRPr>
            </a:pPr>
            <a:r>
              <a:t>15年總回報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33375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800" b="1">
                <a:solidFill>
                  <a:srgbClr val="FFFFFF"/>
                </a:solidFill>
                <a:latin typeface="Sarasa Mono SC"/>
              </a:defRPr>
            </a:pPr>
            <a:r>
              <a:t>HKD 7,844,012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03920" y="3977639"/>
            <a:ext cx="1463040" cy="731520"/>
          </a:xfrm>
          <a:prstGeom prst="roundRect">
            <a:avLst/>
          </a:prstGeom>
          <a:solidFill>
            <a:srgbClr val="26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03920" y="399592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7A7870"/>
                </a:solidFill>
                <a:latin typeface="Sarasa Mono SC"/>
              </a:defRPr>
            </a:pPr>
            <a:r>
              <a:t>年化回報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4206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200" b="1">
                <a:solidFill>
                  <a:srgbClr val="45A06B"/>
                </a:solidFill>
                <a:latin typeface="Sarasa Mono SC"/>
              </a:defRPr>
            </a:pPr>
            <a:r>
              <a:t>8.21%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149840" y="3977639"/>
            <a:ext cx="1463040" cy="731520"/>
          </a:xfrm>
          <a:prstGeom prst="roundRect">
            <a:avLst/>
          </a:prstGeom>
          <a:solidFill>
            <a:srgbClr val="26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149840" y="399592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7A7870"/>
                </a:solidFill>
                <a:latin typeface="Sarasa Mono SC"/>
              </a:defRPr>
            </a:pPr>
            <a:r>
              <a:t>總ROI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0" y="4206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200" b="1">
                <a:solidFill>
                  <a:srgbClr val="FFFFFF"/>
                </a:solidFill>
                <a:latin typeface="Sarasa Mono SC"/>
              </a:defRPr>
            </a:pPr>
            <a:r>
              <a:t>+226.8%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4846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50" b="0">
                <a:solidFill>
                  <a:srgbClr val="D0CEC4"/>
                </a:solidFill>
                <a:latin typeface="Sarasa Mono SC"/>
              </a:defRPr>
            </a:pPr>
            <a:r>
              <a:t>參考日本都市物業歷史</a:t>
            </a:r>
            <a:br/>
            <a:r>
              <a:t>平均增長率，物業價值</a:t>
            </a:r>
            <a:br/>
            <a:r>
              <a:t>15年累計增長約56%。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7A7870"/>
                </a:solidFill>
                <a:latin typeface="Sarasa Mono SC"/>
              </a:defRPr>
            </a:pPr>
            <a:r>
              <a:t>PZC Group 百盛大通 — Confidential  |  日本物業投資分析報告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C9A84C"/>
                </a:solidFill>
                <a:latin typeface="Sarasa Mono SC"/>
              </a:defRPr>
            </a:pPr>
            <a:r>
              <a:t>PZC GROUP 百盛大通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1828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100" b="0">
                <a:solidFill>
                  <a:srgbClr val="7A7870"/>
                </a:solidFill>
                <a:latin typeface="Sarasa Mono SC"/>
              </a:defRPr>
            </a:pPr>
            <a:r>
              <a:t>風險評估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FFFFFF"/>
                </a:solidFill>
                <a:latin typeface="Sarasa Mono SC"/>
              </a:defRPr>
            </a:pPr>
            <a:r>
              <a:t>MCLUB 雙變量壓力測試結果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7A7870"/>
                </a:solidFill>
                <a:latin typeface="Sarasa Mono SC"/>
              </a:defRPr>
            </a:pPr>
            <a:r>
              <a:t>Variable 1: FX Rate (12情景) x Variable 2: Property Value (7情景) = 84個壓力測試情景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828800"/>
            <a:ext cx="10362895" cy="12700"/>
          </a:xfrm>
          <a:prstGeom prst="rect">
            <a:avLst/>
          </a:prstGeom>
          <a:solidFill>
            <a:srgbClr val="3A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2011680"/>
            <a:ext cx="3657600" cy="137160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3A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3600" b="1">
                <a:solidFill>
                  <a:srgbClr val="3A6EA5"/>
                </a:solidFill>
                <a:latin typeface="Sarasa Mono SC"/>
              </a:defRPr>
            </a:pPr>
            <a:r>
              <a:t>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148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FFFFFF"/>
                </a:solidFill>
                <a:latin typeface="Sarasa Mono SC"/>
              </a:defRPr>
            </a:pPr>
            <a:r>
              <a:t>測試情景總數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>
                <a:solidFill>
                  <a:srgbClr val="7A7870"/>
                </a:solidFill>
                <a:latin typeface="Sarasa Mono SC"/>
              </a:defRPr>
            </a:pPr>
            <a:r>
              <a:t>12個匯率情景 x 7個房價情景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011680"/>
            <a:ext cx="3657600" cy="137160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45A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1031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3600" b="1">
                <a:solidFill>
                  <a:srgbClr val="45A06B"/>
                </a:solidFill>
                <a:latin typeface="Sarasa Mono SC"/>
              </a:defRPr>
            </a:pPr>
            <a: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148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FFFFFF"/>
                </a:solidFill>
                <a:latin typeface="Sarasa Mono SC"/>
              </a:defRPr>
            </a:pPr>
            <a:r>
              <a:t>虧本情景數量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>
                <a:solidFill>
                  <a:srgbClr val="7A7870"/>
                </a:solidFill>
                <a:latin typeface="Sarasa Mono SC"/>
              </a:defRPr>
            </a:pPr>
            <a:r>
              <a:t>全部84個情景均錄得正回報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011680"/>
            <a:ext cx="3657600" cy="137160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C0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1031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3600" b="1">
                <a:solidFill>
                  <a:srgbClr val="C03C3C"/>
                </a:solidFill>
                <a:latin typeface="Sarasa Mono SC"/>
              </a:defRPr>
            </a:pPr>
            <a:r>
              <a:t>2.20%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2148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FFFFFF"/>
                </a:solidFill>
                <a:latin typeface="Sarasa Mono SC"/>
              </a:defRPr>
            </a:pPr>
            <a:r>
              <a:t>最低年化回報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>
                <a:solidFill>
                  <a:srgbClr val="7A7870"/>
                </a:solidFill>
                <a:latin typeface="Sarasa Mono SC"/>
              </a:defRPr>
            </a:pPr>
            <a:r>
              <a:t>房價-30% + 日圓貶值31% 同時發生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3A6EA5"/>
                </a:solidFill>
                <a:latin typeface="Sarasa Mono SC"/>
              </a:defRPr>
            </a:pPr>
            <a:r>
              <a:t>關鍵壓力測試情景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3931920"/>
          <a:ext cx="109728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2286000"/>
                <a:gridCol w="2194560"/>
                <a:gridCol w="2194560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壓力情景</a:t>
                      </a:r>
                    </a:p>
                  </a:txBody>
                  <a:tcPr>
                    <a:solidFill>
                      <a:srgbClr val="2C2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房價變動</a:t>
                      </a:r>
                    </a:p>
                  </a:txBody>
                  <a:tcPr>
                    <a:solidFill>
                      <a:srgbClr val="2C2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匯率變動</a:t>
                      </a:r>
                    </a:p>
                  </a:txBody>
                  <a:tcPr>
                    <a:solidFill>
                      <a:srgbClr val="2C2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年化回報</a:t>
                      </a:r>
                    </a:p>
                  </a:txBody>
                  <a:tcPr>
                    <a:solidFill>
                      <a:srgbClr val="2C2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15年總ROI</a:t>
                      </a:r>
                    </a:p>
                  </a:txBody>
                  <a:tcPr>
                    <a:solidFill>
                      <a:srgbClr val="2C2E35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45A06B"/>
                          </a:solidFill>
                          <a:latin typeface="Sarasa Mono SC"/>
                        </a:defRPr>
                      </a:pPr>
                      <a:r>
                        <a:t>最可能情景</a:t>
                      </a:r>
                    </a:p>
                  </a:txBody>
                  <a:tcPr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45A06B"/>
                          </a:solidFill>
                          <a:latin typeface="Sarasa Mono SC"/>
                        </a:defRPr>
                      </a:pPr>
                      <a:r>
                        <a:t>+3%/年</a:t>
                      </a:r>
                    </a:p>
                  </a:txBody>
                  <a:tcPr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45A06B"/>
                          </a:solidFill>
                          <a:latin typeface="Sarasa Mono SC"/>
                        </a:defRPr>
                      </a:pPr>
                      <a:r>
                        <a:t>現匯率</a:t>
                      </a:r>
                    </a:p>
                  </a:txBody>
                  <a:tcPr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45A06B"/>
                          </a:solidFill>
                          <a:latin typeface="Sarasa Mono SC"/>
                        </a:defRPr>
                      </a:pPr>
                      <a:r>
                        <a:t>8.21%</a:t>
                      </a:r>
                    </a:p>
                  </a:txBody>
                  <a:tcPr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45A06B"/>
                          </a:solidFill>
                          <a:latin typeface="Sarasa Mono SC"/>
                        </a:defRPr>
                      </a:pPr>
                      <a:r>
                        <a:t>+226.8%</a:t>
                      </a:r>
                    </a:p>
                  </a:txBody>
                  <a:tcPr>
                    <a:solidFill>
                      <a:srgbClr val="1E1E2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A6EA5"/>
                          </a:solidFill>
                          <a:latin typeface="Sarasa Mono SC"/>
                        </a:defRPr>
                      </a:pPr>
                      <a:r>
                        <a:t>基準情景</a:t>
                      </a:r>
                    </a:p>
                  </a:txBody>
                  <a:tcPr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A6EA5"/>
                          </a:solidFill>
                          <a:latin typeface="Sarasa Mono SC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A6EA5"/>
                          </a:solidFill>
                          <a:latin typeface="Sarasa Mono SC"/>
                        </a:defRPr>
                      </a:pPr>
                      <a:r>
                        <a:t>現匯率</a:t>
                      </a:r>
                    </a:p>
                  </a:txBody>
                  <a:tcPr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A6EA5"/>
                          </a:solidFill>
                          <a:latin typeface="Sarasa Mono SC"/>
                        </a:defRPr>
                      </a:pPr>
                      <a:r>
                        <a:t>5.83%</a:t>
                      </a:r>
                    </a:p>
                  </a:txBody>
                  <a:tcPr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A6EA5"/>
                          </a:solidFill>
                          <a:latin typeface="Sarasa Mono SC"/>
                        </a:defRPr>
                      </a:pPr>
                      <a:r>
                        <a:t>+133.8%</a:t>
                      </a:r>
                    </a:p>
                  </a:txBody>
                  <a:tcPr>
                    <a:solidFill>
                      <a:srgbClr val="1E1E2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中度壓力</a:t>
                      </a:r>
                    </a:p>
                  </a:txBody>
                  <a:tcPr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-15%</a:t>
                      </a:r>
                    </a:p>
                  </a:txBody>
                  <a:tcPr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日圓貶10%</a:t>
                      </a:r>
                    </a:p>
                  </a:txBody>
                  <a:tcPr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3.15%</a:t>
                      </a:r>
                    </a:p>
                  </a:txBody>
                  <a:tcPr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+57.5%</a:t>
                      </a:r>
                    </a:p>
                  </a:txBody>
                  <a:tcPr>
                    <a:solidFill>
                      <a:srgbClr val="1E1E2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7A2A"/>
                          </a:solidFill>
                          <a:latin typeface="Sarasa Mono SC"/>
                        </a:defRPr>
                      </a:pPr>
                      <a:r>
                        <a:t>極端壓力</a:t>
                      </a:r>
                    </a:p>
                  </a:txBody>
                  <a:tcPr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7A2A"/>
                          </a:solidFill>
                          <a:latin typeface="Sarasa Mono SC"/>
                        </a:defRPr>
                      </a:pPr>
                      <a:r>
                        <a:t>-30%</a:t>
                      </a:r>
                    </a:p>
                  </a:txBody>
                  <a:tcPr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7A2A"/>
                          </a:solidFill>
                          <a:latin typeface="Sarasa Mono SC"/>
                        </a:defRPr>
                      </a:pPr>
                      <a:r>
                        <a:t>日圓貶20%</a:t>
                      </a:r>
                    </a:p>
                  </a:txBody>
                  <a:tcPr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7A2A"/>
                          </a:solidFill>
                          <a:latin typeface="Sarasa Mono SC"/>
                        </a:defRPr>
                      </a:pPr>
                      <a:r>
                        <a:t>2.20%</a:t>
                      </a:r>
                    </a:p>
                  </a:txBody>
                  <a:tcPr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7A2A"/>
                          </a:solidFill>
                          <a:latin typeface="Sarasa Mono SC"/>
                        </a:defRPr>
                      </a:pPr>
                      <a:r>
                        <a:t>+38.8%</a:t>
                      </a:r>
                    </a:p>
                  </a:txBody>
                  <a:tcPr>
                    <a:solidFill>
                      <a:srgbClr val="1E1E2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03C3C"/>
                          </a:solidFill>
                          <a:latin typeface="Sarasa Mono SC"/>
                        </a:defRPr>
                      </a:pPr>
                      <a:r>
                        <a:t>歷史重演</a:t>
                      </a:r>
                    </a:p>
                  </a:txBody>
                  <a:tcPr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03C3C"/>
                          </a:solidFill>
                          <a:latin typeface="Sarasa Mono SC"/>
                        </a:defRPr>
                      </a:pPr>
                      <a:r>
                        <a:t>-30%</a:t>
                      </a:r>
                    </a:p>
                  </a:txBody>
                  <a:tcPr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03C3C"/>
                          </a:solidFill>
                          <a:latin typeface="Sarasa Mono SC"/>
                        </a:defRPr>
                      </a:pPr>
                      <a:r>
                        <a:t>日圓貶31%</a:t>
                      </a:r>
                    </a:p>
                  </a:txBody>
                  <a:tcPr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03C3C"/>
                          </a:solidFill>
                          <a:latin typeface="Sarasa Mono SC"/>
                        </a:defRPr>
                      </a:pPr>
                      <a:r>
                        <a:t>2.20%</a:t>
                      </a:r>
                    </a:p>
                  </a:txBody>
                  <a:tcPr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03C3C"/>
                          </a:solidFill>
                          <a:latin typeface="Sarasa Mono SC"/>
                        </a:defRPr>
                      </a:pPr>
                      <a:r>
                        <a:t>+38.8%</a:t>
                      </a:r>
                    </a:p>
                  </a:txBody>
                  <a:tcPr>
                    <a:solidFill>
                      <a:srgbClr val="1E1E24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7A7870"/>
                </a:solidFill>
                <a:latin typeface="Sarasa Mono SC"/>
              </a:defRPr>
            </a:pPr>
            <a:r>
              <a:t>PZC Group 百盛大通 — Confidential  |  日本物業投資分析報告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C9A84C"/>
                </a:solidFill>
                <a:latin typeface="Sarasa Mono SC"/>
              </a:defRPr>
            </a:pPr>
            <a:r>
              <a:t>PZC GROUP 百盛大通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1828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100" b="0">
                <a:solidFill>
                  <a:srgbClr val="7A7870"/>
                </a:solidFill>
                <a:latin typeface="Sarasa Mono SC"/>
              </a:defRPr>
            </a:pPr>
            <a:r>
              <a:t>風險地圖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FFFFFF"/>
                </a:solidFill>
                <a:latin typeface="Sarasa Mono SC"/>
              </a:defRPr>
            </a:pPr>
            <a:r>
              <a:t>雙變量風險地圖 — FX Rate x Property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7A7870"/>
                </a:solidFill>
                <a:latin typeface="Sarasa Mono SC"/>
              </a:defRPr>
            </a:pPr>
            <a:r>
              <a:t>橫軸：日圓匯率變動（左=日圓升值，右=日圓貶值）  |  縱軸：物業價格15年累計變動  |  顏色：年化總回報率</a:t>
            </a:r>
          </a:p>
        </p:txBody>
      </p:sp>
      <p:pic>
        <p:nvPicPr>
          <p:cNvPr id="7" name="Picture 6" descr="stress_2va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83080"/>
            <a:ext cx="11795760" cy="4480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6263640"/>
            <a:ext cx="11247120" cy="228600"/>
          </a:xfrm>
          <a:prstGeom prst="roundRect">
            <a:avLst/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272784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50" b="0">
                <a:solidFill>
                  <a:srgbClr val="7A7870"/>
                </a:solidFill>
                <a:latin typeface="Sarasa Mono SC"/>
              </a:defRPr>
            </a:pPr>
            <a:r>
              <a:t>註：全部84個情景之年化回報率均為正數  |  紅色虛線框為基準情景（房價不變 + 現匯率 = 5.83%）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7A7870"/>
                </a:solidFill>
                <a:latin typeface="Sarasa Mono SC"/>
              </a:defRPr>
            </a:pPr>
            <a:r>
              <a:t>PZC Group 百盛大通 — Confidential  |  日本物業投資分析報告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C9A84C"/>
                </a:solidFill>
                <a:latin typeface="Sarasa Mono SC"/>
              </a:defRPr>
            </a:pPr>
            <a:r>
              <a:t>PZC GROUP 百盛大通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1828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100" b="0">
                <a:solidFill>
                  <a:srgbClr val="7A7870"/>
                </a:solidFill>
                <a:latin typeface="Sarasa Mono SC"/>
              </a:defRPr>
            </a:pPr>
            <a:r>
              <a:t>投資建議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FFFFFF"/>
                </a:solidFill>
                <a:latin typeface="Sarasa Mono SC"/>
              </a:defRPr>
            </a:pPr>
            <a:r>
              <a:t>投資要點與建議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91640"/>
            <a:ext cx="10362895" cy="12700"/>
          </a:xfrm>
          <a:prstGeom prst="rect">
            <a:avLst/>
          </a:prstGeom>
          <a:solidFill>
            <a:srgbClr val="3A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933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FFFF"/>
                </a:solidFill>
                <a:latin typeface="Sarasa Mono SC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20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3A6EA5"/>
                </a:solidFill>
                <a:latin typeface="Sarasa Mono SC"/>
              </a:defRPr>
            </a:pPr>
            <a:r>
              <a:t>槓杆效應提升資金效率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>
                <a:solidFill>
                  <a:srgbClr val="D0CEC4"/>
                </a:solidFill>
                <a:latin typeface="Sarasa Mono SC"/>
              </a:defRPr>
            </a:pPr>
            <a:r>
              <a:t>客戶以 HKD 2,400,000（60%首期）控制 HKD 4,000,000 之物業，有效放大投資回報。40%按揭利率僅3%，資金成本極低。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620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FFFF"/>
                </a:solidFill>
                <a:latin typeface="Sarasa Mono SC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788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E86AB"/>
                </a:solidFill>
                <a:latin typeface="Sarasa Mono SC"/>
              </a:defRPr>
            </a:pPr>
            <a:r>
              <a:t>自然對沖降低匯率風險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0632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>
                <a:solidFill>
                  <a:srgbClr val="D0CEC4"/>
                </a:solidFill>
                <a:latin typeface="Sarasa Mono SC"/>
              </a:defRPr>
            </a:pPr>
            <a:r>
              <a:t>按揭以日圓計算、租金以日圓收取，形成幣種匹配之自然對沖結構，無需額外進行衍生品對沖即可大幅降低匯率風險暴露。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703320"/>
            <a:ext cx="457200" cy="457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307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FFFF"/>
                </a:solidFill>
                <a:latin typeface="Sarasa Mono SC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657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C9A84C"/>
                </a:solidFill>
                <a:latin typeface="Sarasa Mono SC"/>
              </a:defRPr>
            </a:pPr>
            <a:r>
              <a:t>雙重回報來源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31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>
                <a:solidFill>
                  <a:srgbClr val="D0CEC4"/>
                </a:solidFill>
                <a:latin typeface="Sarasa Mono SC"/>
              </a:defRPr>
            </a:pPr>
            <a:r>
              <a:t>淨租金現金回報（4.48%）加上按揭本金償還帶來之物業權益增長（+4.44%），綜合年回報率達 8.92%，遠超一般定息投資。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572000"/>
            <a:ext cx="457200" cy="457200"/>
          </a:xfrm>
          <a:prstGeom prst="ellipse">
            <a:avLst/>
          </a:prstGeom>
          <a:solidFill>
            <a:srgbClr val="45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5994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FFFF"/>
                </a:solidFill>
                <a:latin typeface="Sarasa Mono SC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526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45A06B"/>
                </a:solidFill>
                <a:latin typeface="Sarasa Mono SC"/>
              </a:defRPr>
            </a:pPr>
            <a:r>
              <a:t>極端情景抗壓能力充足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800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>
                <a:solidFill>
                  <a:srgbClr val="D0CEC4"/>
                </a:solidFill>
                <a:latin typeface="Sarasa Mono SC"/>
              </a:defRPr>
            </a:pPr>
            <a:r>
              <a:t>經84個雙變量壓力測試情景驗證，全部情景均維持正回報。即使最極端情況（房價跌30% + 日圓貶31%），年化回報仍達 2.20%。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5440680"/>
            <a:ext cx="457200" cy="457200"/>
          </a:xfrm>
          <a:prstGeom prst="ellipse">
            <a:avLst/>
          </a:prstGeom>
          <a:solidFill>
            <a:srgbClr val="82C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46811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FFFF"/>
                </a:solidFill>
                <a:latin typeface="Sarasa Mono SC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3949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82C0AA"/>
                </a:solidFill>
                <a:latin typeface="Sarasa Mono SC"/>
              </a:defRPr>
            </a:pPr>
            <a:r>
              <a:t>日本市場結構性機遇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6692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>
                <a:solidFill>
                  <a:srgbClr val="D0CEC4"/>
                </a:solidFill>
                <a:latin typeface="Sarasa Mono SC"/>
              </a:defRPr>
            </a:pPr>
            <a:r>
              <a:t>日本處於利率正常化初期，3%按揭利率處歷史低位。15年按揭期滿後物業完全歸投資者所有，無任何負債。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1920240"/>
            <a:ext cx="4846320" cy="429768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0" y="20116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500" b="1">
                <a:solidFill>
                  <a:srgbClr val="C9A84C"/>
                </a:solidFill>
                <a:latin typeface="Sarasa Mono SC"/>
              </a:defRPr>
            </a:pPr>
            <a:r>
              <a:t>風險評級 Risk Rating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24688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7A7870"/>
                </a:solidFill>
                <a:latin typeface="Sarasa Mono SC"/>
              </a:defRPr>
            </a:pPr>
            <a:r>
              <a:t>整體投資風險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24688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45A06B"/>
                </a:solidFill>
                <a:latin typeface="Sarasa Mono SC"/>
              </a:defRPr>
            </a:pPr>
            <a:r>
              <a:t>LOW-MODERATE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2697480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D0CEC4"/>
                </a:solidFill>
                <a:latin typeface="Sarasa Mono SC"/>
              </a:defRPr>
            </a:pPr>
            <a:r>
              <a:t>中等偏低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30175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7A7870"/>
                </a:solidFill>
                <a:latin typeface="Sarasa Mono SC"/>
              </a:defRPr>
            </a:pPr>
            <a:r>
              <a:t>匯率風險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30175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3A6EA5"/>
                </a:solidFill>
                <a:latin typeface="Sarasa Mono SC"/>
              </a:defRPr>
            </a:pPr>
            <a:r>
              <a:t>MITIGATED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3246120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D0CEC4"/>
                </a:solidFill>
                <a:latin typeface="Sarasa Mono SC"/>
              </a:defRPr>
            </a:pPr>
            <a:r>
              <a:t>已被自然對沖緩解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35661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7A7870"/>
                </a:solidFill>
                <a:latin typeface="Sarasa Mono SC"/>
              </a:defRPr>
            </a:pPr>
            <a:r>
              <a:t>物業價格風險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35661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C9A84C"/>
                </a:solidFill>
                <a:latin typeface="Sarasa Mono SC"/>
              </a:defRPr>
            </a:pPr>
            <a:r>
              <a:t>LOW-MODERATE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3794760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D0CEC4"/>
                </a:solidFill>
                <a:latin typeface="Sarasa Mono SC"/>
              </a:defRPr>
            </a:pPr>
            <a:r>
              <a:t>15年長期持有分散短期波動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41148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7A7870"/>
                </a:solidFill>
                <a:latin typeface="Sarasa Mono SC"/>
              </a:defRPr>
            </a:pPr>
            <a:r>
              <a:t>利率風險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411480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45A06B"/>
                </a:solidFill>
                <a:latin typeface="Sarasa Mono SC"/>
              </a:defRPr>
            </a:pPr>
            <a:r>
              <a:t>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60" y="4343400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D0CEC4"/>
                </a:solidFill>
                <a:latin typeface="Sarasa Mono SC"/>
              </a:defRPr>
            </a:pPr>
            <a:r>
              <a:t>日本3%處歷史低位區間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46634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7A7870"/>
                </a:solidFill>
                <a:latin typeface="Sarasa Mono SC"/>
              </a:defRPr>
            </a:pPr>
            <a:r>
              <a:t>流動性風險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46634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C87A2A"/>
                </a:solidFill>
                <a:latin typeface="Sarasa Mono SC"/>
              </a:defRPr>
            </a:pPr>
            <a:r>
              <a:t>MODERATE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4892040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D0CEC4"/>
                </a:solidFill>
                <a:latin typeface="Sarasa Mono SC"/>
              </a:defRPr>
            </a:pPr>
            <a:r>
              <a:t>日本物業二級市場流動性偏低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040880" y="5212080"/>
            <a:ext cx="4480560" cy="822960"/>
          </a:xfrm>
          <a:prstGeom prst="roundRect">
            <a:avLst/>
          </a:prstGeom>
          <a:solidFill>
            <a:srgbClr val="1A2A1A"/>
          </a:solidFill>
          <a:ln w="12700">
            <a:solidFill>
              <a:srgbClr val="45A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60" y="52578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45A06B"/>
                </a:solidFill>
                <a:latin typeface="Sarasa Mono SC"/>
              </a:defRPr>
            </a:pPr>
            <a:r>
              <a:t>投資建議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5486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50" b="0">
                <a:solidFill>
                  <a:srgbClr val="FFFFFF"/>
                </a:solidFill>
                <a:latin typeface="Sarasa Mono SC"/>
              </a:defRPr>
            </a:pPr>
            <a:r>
              <a:t>建議按基準情景（年化5.83~8.21%）進行投資決策。</a:t>
            </a:r>
            <a:br/>
            <a:r>
              <a:t>本投資適合作為家族辦公室長期資產配置之一部份。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6309360"/>
            <a:ext cx="5943600" cy="320040"/>
          </a:xfrm>
          <a:prstGeom prst="roundRect">
            <a:avLst/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632764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50" b="0">
                <a:solidFill>
                  <a:srgbClr val="7A7870"/>
                </a:solidFill>
                <a:latin typeface="Sarasa Mono SC"/>
              </a:defRPr>
            </a:pPr>
            <a:r>
              <a:t>Disclaimer: 以上分析基於當前市場條件之假設，實際回報可能因市場變化而有所不同。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7A7870"/>
                </a:solidFill>
                <a:latin typeface="Sarasa Mono SC"/>
              </a:defRPr>
            </a:pPr>
            <a:r>
              <a:t>PZC Group 百盛大通 — Confidential  |  日本物業投資分析報告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