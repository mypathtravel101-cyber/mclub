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  <a:latin typeface="Sarasa Mono SC"/>
              </a:defRPr>
            </a:pPr>
            <a:r>
              <a:t>MCLUB FX RISK MODELING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arasa Mono SC"/>
              </a:defRPr>
            </a:pPr>
            <a:r>
              <a:t>日本物業投資 — FX壓力測試報告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  <a:latin typeface="Sarasa Mono SC"/>
              </a:defRPr>
            </a:pPr>
            <a:r>
              <a:t>JPY Property Investment — FX Stress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A84C"/>
                </a:solidFill>
                <a:latin typeface="Sarasa Mono SC"/>
              </a:defRPr>
            </a:pPr>
            <a:r>
              <a:t>客戶投入: HKD 2,400,000 | 物業: HKD 4,000,000 (JPY 78M) | 按揭: 40% LTV @ 3% | 15年期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F2E8"/>
                </a:solidFill>
                <a:latin typeface="Sarasa Mono SC"/>
              </a:defRPr>
            </a:pPr>
            <a:r>
              <a:t>三層情境架構 + 歷史參照情景 + FX敏感度矩陣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壓力測試報告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arasa Mono SC"/>
              </a:defRPr>
            </a:pPr>
            <a:r>
              <a:t>MCLUB 壓力測試方法論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ess_mode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3657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4937760"/>
            <a:ext cx="2651760" cy="118872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3A5F"/>
                </a:solidFill>
                <a:latin typeface="Sarasa Mono SC"/>
              </a:defRPr>
            </a:pPr>
            <a:r>
              <a:t>Tier 1 基準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257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arasa Mono SC"/>
              </a:defRPr>
            </a:pPr>
            <a:r>
              <a:t>FX: ±5%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486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市場正常波動 | 日常監控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4937760"/>
            <a:ext cx="2651760" cy="118872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9C12"/>
                </a:solidFill>
                <a:latin typeface="Sarasa Mono SC"/>
              </a:defRPr>
            </a:pPr>
            <a:r>
              <a:t>Tier 2 中度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5257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arasa Mono SC"/>
              </a:defRPr>
            </a:pPr>
            <a:r>
              <a:t>FX: ±10~15%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5486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區域性經濟衝擊 | 年度風險評估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937760"/>
            <a:ext cx="2651760" cy="118872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  <a:latin typeface="Sarasa Mono SC"/>
              </a:defRPr>
            </a:pPr>
            <a:r>
              <a:t>Tier 3 極端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257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arasa Mono SC"/>
              </a:defRPr>
            </a:pPr>
            <a:r>
              <a:t>FX: ±20%以上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486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金融危機/黑天鵝 | 壓力測試合規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4937760"/>
            <a:ext cx="2651760" cy="118872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E44AD"/>
                </a:solidFill>
                <a:latin typeface="Sarasa Mono SC"/>
              </a:defRPr>
            </a:pPr>
            <a:r>
              <a:t>歷史參照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5257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arasa Mono SC"/>
              </a:defRPr>
            </a:pPr>
            <a:r>
              <a:t>FX: 2022 JPY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5486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USD/JPY 115→151 | 31% JPY貶值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壓力測試報告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arasa Mono SC"/>
              </a:defRPr>
            </a:pPr>
            <a:r>
              <a:t>三層壓力測試框架 — 測試結果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ess_three_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壓力測試報告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arasa Mono SC"/>
              </a:defRPr>
            </a:pPr>
            <a:r>
              <a:t>FX敏感度矩陣 — 資產重估結果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ess_sensitiv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壓力測試報告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arasa Mono SC"/>
              </a:defRPr>
            </a:pPr>
            <a:r>
              <a:t>壓力測試完整結果 — 情景對照表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51560"/>
          <a:ext cx="116128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914400"/>
                <a:gridCol w="1280160"/>
                <a:gridCol w="1371600"/>
                <a:gridCol w="1645920"/>
                <a:gridCol w="1645920"/>
                <a:gridCol w="2194560"/>
              </a:tblGrid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層級/情景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JPY方向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FX Rate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現金回報率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總回報率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物業套現</a:t>
                      </a:r>
                    </a:p>
                    <a:p>
                      <a:pPr algn="ctr">
                        <a:defRPr sz="10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(HKD)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15年P&amp;L</a:t>
                      </a:r>
                    </a:p>
                    <a:p>
                      <a:pPr algn="ctr">
                        <a:defRPr sz="10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vs基準(HKD)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年化總回報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T1 基準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JPY升5.0%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18.52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4.71%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9.39%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4,210,526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+295,322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6.19%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T1 基準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JPY貶0%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19.5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4.48%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8.92%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4,000,000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+0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5.83%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T1 基準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JPY貶5.0%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20.48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4.26%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8.5%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3,809,524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-267,196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5.48%</a:t>
                      </a:r>
                    </a:p>
                  </a:txBody>
                  <a:tcPr>
                    <a:solidFill>
                      <a:srgbClr val="1A2A40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T2 中度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JPY升15.0%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16.57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5.27%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10.49%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4,705,882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+990,199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6.98%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T2 中度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JPY升10.0%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17.55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4.97%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9.91%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4,444,444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+623,458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6.57%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T2 中度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JPY貶10.0%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21.45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4.07%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8.11%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3,636,364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-510,102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5.15%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T2 中度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JPY貶15.0%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22.42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3.89%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7.76%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3,478,261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-731,886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4.84%</a:t>
                      </a:r>
                    </a:p>
                  </a:txBody>
                  <a:tcPr>
                    <a:solidFill>
                      <a:srgbClr val="2A251A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T3 極端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JPY升25.0%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14.62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5.97%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11.89%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5,333,333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+1,870,375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7.87%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T3 極端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JPY升20.0%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15.6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5.59%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11.15%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5,000,000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+1,402,781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7.41%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T3 極端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JPY貶20.0%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23.4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3.73%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7.43%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3,333,333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-935,187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4.55%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T3 極端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JPY貶30.0%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25.35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3.44%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6.86%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3,076,923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-1,294,875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3.99%</a:t>
                      </a:r>
                    </a:p>
                  </a:txBody>
                  <a:tcPr>
                    <a:solidFill>
                      <a:srgbClr val="301A1A"/>
                    </a:solidFill>
                  </a:tcPr>
                </a:tc>
              </a:tr>
              <a:tr h="37280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歷史參照</a:t>
                      </a:r>
                    </a:p>
                  </a:txBody>
                  <a:tcPr>
                    <a:solidFill>
                      <a:srgbClr val="251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JPY貶31.0%</a:t>
                      </a:r>
                    </a:p>
                  </a:txBody>
                  <a:tcPr>
                    <a:solidFill>
                      <a:srgbClr val="251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25.55</a:t>
                      </a:r>
                    </a:p>
                  </a:txBody>
                  <a:tcPr>
                    <a:solidFill>
                      <a:srgbClr val="251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3.42%</a:t>
                      </a:r>
                    </a:p>
                  </a:txBody>
                  <a:tcPr>
                    <a:solidFill>
                      <a:srgbClr val="251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6.81%</a:t>
                      </a:r>
                    </a:p>
                  </a:txBody>
                  <a:tcPr>
                    <a:solidFill>
                      <a:srgbClr val="251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3,053,435</a:t>
                      </a:r>
                    </a:p>
                  </a:txBody>
                  <a:tcPr>
                    <a:solidFill>
                      <a:srgbClr val="251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-1,327,823</a:t>
                      </a:r>
                    </a:p>
                  </a:txBody>
                  <a:tcPr>
                    <a:solidFill>
                      <a:srgbClr val="251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3.94%</a:t>
                      </a:r>
                    </a:p>
                  </a:txBody>
                  <a:tcPr>
                    <a:solidFill>
                      <a:srgbClr val="251A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壓力測試報告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arasa Mono SC"/>
              </a:defRPr>
            </a:pPr>
            <a:r>
              <a:t>15年總回報 P&amp;L — 相對基準情景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ess_pnl_vs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壓力測試報告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arasa Mono SC"/>
              </a:defRPr>
            </a:pPr>
            <a:r>
              <a:t>歷史參照情景 — 2022年日圓危機深度分析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ess_historical_deepd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95760" cy="3931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120640"/>
            <a:ext cx="11247120" cy="1005840"/>
          </a:xfrm>
          <a:prstGeom prst="roundRect">
            <a:avLst/>
          </a:prstGeom>
          <a:solidFill>
            <a:srgbClr val="251A30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663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Sarasa Mono SC"/>
              </a:defRPr>
            </a:pPr>
            <a:r>
              <a:t>2022日圓危機重演影響 (JPY貶值31%)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2E8"/>
                </a:solidFill>
                <a:latin typeface="Sarasa Mono SC"/>
              </a:defRPr>
            </a:pPr>
            <a:r>
              <a:t>物業套現價值: HKD 4,000,000 → HKD 3,053,435 (損失 HKD 946,565)  |  年化回報: 5.83% → 3.94%  |  15年P&amp;L: HKD -1,327,823  |  結論: 即使歷史最差情景重演，年化回報仍達 3.94%，投資仍具正回報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壓力測試報告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arasa Mono SC"/>
              </a:defRPr>
            </a:pPr>
            <a:r>
              <a:t>風險維度評估與結論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ess_radar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7315200" cy="3657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051560"/>
            <a:ext cx="4114800" cy="493776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1430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Sarasa Mono SC"/>
              </a:defRPr>
            </a:pPr>
            <a:r>
              <a:t>壓力測試結論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52704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Sarasa Mono SC"/>
              </a:defRPr>
            </a:pPr>
            <a:r>
              <a:t>1. 風險等級: 中等偏低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8013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arasa Mono SC"/>
              </a:defRPr>
            </a:pPr>
            <a:r>
              <a:t>所有12個情景（含歷史最差）均維持正回報，最低年化3.94%。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0208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Sarasa Mono SC"/>
              </a:defRPr>
            </a:pPr>
            <a:r>
              <a:t>2. 自然對沖有效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29514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arasa Mono SC"/>
              </a:defRPr>
            </a:pPr>
            <a:r>
              <a:t>日圓按揭+日圓租金的幣種匹配，大幅降低匯率風險暴露。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514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  <a:latin typeface="Sarasa Mono SC"/>
              </a:defRPr>
            </a:pPr>
            <a:r>
              <a:t>3. 極端情景韌性充足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788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arasa Mono SC"/>
              </a:defRPr>
            </a:pPr>
            <a:r>
              <a:t>JPY貶30%情景下年化仍達3.99%，顯示槓杆結構的緩衝能力。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00837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Sarasa Mono SC"/>
              </a:defRPr>
            </a:pPr>
            <a:r>
              <a:t>4. 2022危機重演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2826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arasa Mono SC"/>
              </a:defRPr>
            </a:pPr>
            <a:r>
              <a:t>若31%貶值重演，15年P&amp;L損失HKD 1.33M，但仍錄得總ROI +88.4%。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50215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84C"/>
                </a:solidFill>
                <a:latin typeface="Sarasa Mono SC"/>
              </a:defRPr>
            </a:pPr>
            <a:r>
              <a:t>5. 建議服務層級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77647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2E8"/>
                </a:solidFill>
                <a:latin typeface="Sarasa Mono SC"/>
              </a:defRPr>
            </a:pPr>
            <a:r>
              <a:t>本案例適用進階版（Advanced），含不動產覆蓋及自定義情境。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壓力測試報告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