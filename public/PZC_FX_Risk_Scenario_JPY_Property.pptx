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9A84C"/>
                </a:solidFill>
                <a:latin typeface="Sarasa Mono SC"/>
              </a:defRPr>
            </a:pPr>
            <a:r>
              <a:t>PZC GROUP 百盛大通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arasa Mono SC"/>
              </a:defRPr>
            </a:pPr>
            <a:r>
              <a:t>日本物業投資 — 匯率風險情景分析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5A5A6"/>
                </a:solidFill>
                <a:latin typeface="Sarasa Mono SC"/>
              </a:defRPr>
            </a:pPr>
            <a:r>
              <a:t>JPY Property Investment — FX Risk Scenario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A84C"/>
                </a:solidFill>
                <a:latin typeface="Sarasa Mono SC"/>
              </a:defRPr>
            </a:pPr>
            <a:r>
              <a:t>物業價值: HKD 4,000,000 (JPY 78,000,000)  |  按揭: 40% LTV @ 3%  |  期限: 15年  |  年回報率: 6%  |  基準匯率: 19.5 JPY/HKD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Family Office | JPY Property FX Risk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投資架構概覽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560320" cy="164592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A84C"/>
                </a:solidFill>
                <a:latin typeface="Sarasa Mono SC"/>
              </a:defRPr>
            </a:pPr>
            <a:r>
              <a:t>物業價值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arasa Mono SC"/>
              </a:defRPr>
            </a:pPr>
            <a:r>
              <a:t>HKD 4,000,000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JPY 78,000,000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80160"/>
            <a:ext cx="2560320" cy="164592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A84C"/>
                </a:solidFill>
                <a:latin typeface="Sarasa Mono SC"/>
              </a:defRPr>
            </a:pPr>
            <a:r>
              <a:t>首期投入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arasa Mono SC"/>
              </a:defRPr>
            </a:pPr>
            <a:r>
              <a:t>HKD 2,400,000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60% 自有資金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560320" cy="1645920"/>
          </a:xfrm>
          <a:prstGeom prst="roundRect">
            <a:avLst/>
          </a:prstGeom>
          <a:solidFill>
            <a:srgbClr val="8E44AD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A84C"/>
                </a:solidFill>
                <a:latin typeface="Sarasa Mono SC"/>
              </a:defRPr>
            </a:pPr>
            <a:r>
              <a:t>按揭貸款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arasa Mono SC"/>
              </a:defRPr>
            </a:pPr>
            <a:r>
              <a:t>JPY 31,200,000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40% LTV @ 3% p.a.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280160"/>
            <a:ext cx="2560320" cy="1645920"/>
          </a:xfrm>
          <a:prstGeom prst="roundRect">
            <a:avLst/>
          </a:prstGeom>
          <a:solidFill>
            <a:srgbClr val="D3540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A84C"/>
                </a:solidFill>
                <a:latin typeface="Sarasa Mono SC"/>
              </a:defRPr>
            </a:pPr>
            <a:r>
              <a:t>按揭月供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arasa Mono SC"/>
              </a:defRPr>
            </a:pPr>
            <a:r>
              <a:t>JPY 215,461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年供 JPY 2,585,538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arasa Mono SC"/>
              </a:defRPr>
            </a:pPr>
            <a:r>
              <a:t>收入結構分析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49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2E8"/>
                </a:solidFill>
                <a:latin typeface="Sarasa Mono SC"/>
              </a:defRPr>
            </a:pPr>
            <a:r>
              <a:t>年租金收入 (毛)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749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C9A84C"/>
                </a:solidFill>
                <a:latin typeface="Sarasa Mono SC"/>
              </a:defRPr>
            </a:pPr>
            <a:r>
              <a:t>JPY 4,680,000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物業價值 x 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2E8"/>
                </a:solidFill>
                <a:latin typeface="Sarasa Mono SC"/>
              </a:defRPr>
            </a:pPr>
            <a:r>
              <a:t>年按揭支出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C9A84C"/>
                </a:solidFill>
                <a:latin typeface="Sarasa Mono SC"/>
              </a:defRPr>
            </a:pPr>
            <a:r>
              <a:t>JPY 2,585,538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JPY 215,461/月 x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2E8"/>
                </a:solidFill>
                <a:latin typeface="Sarasa Mono SC"/>
              </a:defRPr>
            </a:pPr>
            <a:r>
              <a:t>年淨租金收入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C9A84C"/>
                </a:solidFill>
                <a:latin typeface="Sarasa Mono SC"/>
              </a:defRPr>
            </a:pPr>
            <a:r>
              <a:t>JPY 2,094,462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港元: HKD 107,408/年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2E8"/>
                </a:solidFill>
                <a:latin typeface="Sarasa Mono SC"/>
              </a:defRPr>
            </a:pPr>
            <a:r>
              <a:t>淨租金回報率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C9A84C"/>
                </a:solidFill>
                <a:latin typeface="Sarasa Mono SC"/>
              </a:defRPr>
            </a:pPr>
            <a:r>
              <a:t>4.48%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相對首期投入 (基準匯率)</a:t>
            </a:r>
          </a:p>
        </p:txBody>
      </p:sp>
      <p:pic>
        <p:nvPicPr>
          <p:cNvPr id="33" name="Picture 32" descr="mortgage_amor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017520"/>
            <a:ext cx="5669280" cy="31089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Family Office | JPY Property FX Risk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匯率情景分析總覽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Sarasa Mono SC"/>
              </a:defRPr>
            </a:pPr>
            <a:r>
              <a:t>假設物業日圓價值不變，測試不同JPY/HKD匯率對港元回報的影響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463040"/>
                <a:gridCol w="1645920"/>
                <a:gridCol w="1463040"/>
                <a:gridCol w="1828800"/>
                <a:gridCol w="18288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匯率情景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JPY/HKD</a:t>
                      </a:r>
                    </a:p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匯率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每年淨收入</a:t>
                      </a:r>
                    </a:p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(HKD)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淨回報率</a:t>
                      </a:r>
                    </a:p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(年租)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15年累計</a:t>
                      </a:r>
                    </a:p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租金(HKD)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物業套現</a:t>
                      </a:r>
                    </a:p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(HKD)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15年總</a:t>
                      </a:r>
                    </a:p>
                    <a:p>
                      <a:pPr algn="ctr">
                        <a:defRPr sz="11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ROI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JPY大幅升值 (+20%)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15.60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134,260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5.59%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2,013,906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5,000,000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+192.2%</a:t>
                      </a:r>
                    </a:p>
                  </a:txBody>
                  <a:tcPr>
                    <a:solidFill>
                      <a:srgbClr val="1A3C3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JPY升值 (+10%)</a:t>
                      </a:r>
                    </a:p>
                  </a:txBody>
                  <a:tcPr>
                    <a:solidFill>
                      <a:srgbClr val="1A35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17.55</a:t>
                      </a:r>
                    </a:p>
                  </a:txBody>
                  <a:tcPr>
                    <a:solidFill>
                      <a:srgbClr val="1A35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119,343</a:t>
                      </a:r>
                    </a:p>
                  </a:txBody>
                  <a:tcPr>
                    <a:solidFill>
                      <a:srgbClr val="1A35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4.97%</a:t>
                      </a:r>
                    </a:p>
                  </a:txBody>
                  <a:tcPr>
                    <a:solidFill>
                      <a:srgbClr val="1A35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1,790,139</a:t>
                      </a:r>
                    </a:p>
                  </a:txBody>
                  <a:tcPr>
                    <a:solidFill>
                      <a:srgbClr val="1A35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4,444,444</a:t>
                      </a:r>
                    </a:p>
                  </a:txBody>
                  <a:tcPr>
                    <a:solidFill>
                      <a:srgbClr val="1A35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+159.8%</a:t>
                      </a:r>
                    </a:p>
                  </a:txBody>
                  <a:tcPr>
                    <a:solidFill>
                      <a:srgbClr val="1A35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JPY小幅升值 (+5%)</a:t>
                      </a:r>
                    </a:p>
                  </a:txBody>
                  <a:tcPr>
                    <a:solidFill>
                      <a:srgbClr val="253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18.52</a:t>
                      </a:r>
                    </a:p>
                  </a:txBody>
                  <a:tcPr>
                    <a:solidFill>
                      <a:srgbClr val="253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113,061</a:t>
                      </a:r>
                    </a:p>
                  </a:txBody>
                  <a:tcPr>
                    <a:solidFill>
                      <a:srgbClr val="253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4.71%</a:t>
                      </a:r>
                    </a:p>
                  </a:txBody>
                  <a:tcPr>
                    <a:solidFill>
                      <a:srgbClr val="253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1,695,921</a:t>
                      </a:r>
                    </a:p>
                  </a:txBody>
                  <a:tcPr>
                    <a:solidFill>
                      <a:srgbClr val="253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4,210,526</a:t>
                      </a:r>
                    </a:p>
                  </a:txBody>
                  <a:tcPr>
                    <a:solidFill>
                      <a:srgbClr val="253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+146.1%</a:t>
                      </a:r>
                    </a:p>
                  </a:txBody>
                  <a:tcPr>
                    <a:solidFill>
                      <a:srgbClr val="25353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基準情景 (現匯率)</a:t>
                      </a:r>
                    </a:p>
                  </a:txBody>
                  <a:tcPr>
                    <a:solidFill>
                      <a:srgbClr val="2C2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19.50</a:t>
                      </a:r>
                    </a:p>
                  </a:txBody>
                  <a:tcPr>
                    <a:solidFill>
                      <a:srgbClr val="2C2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107,408</a:t>
                      </a:r>
                    </a:p>
                  </a:txBody>
                  <a:tcPr>
                    <a:solidFill>
                      <a:srgbClr val="2C2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4.48%</a:t>
                      </a:r>
                    </a:p>
                  </a:txBody>
                  <a:tcPr>
                    <a:solidFill>
                      <a:srgbClr val="2C2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1,611,125</a:t>
                      </a:r>
                    </a:p>
                  </a:txBody>
                  <a:tcPr>
                    <a:solidFill>
                      <a:srgbClr val="2C2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4,000,000</a:t>
                      </a:r>
                    </a:p>
                  </a:txBody>
                  <a:tcPr>
                    <a:solidFill>
                      <a:srgbClr val="2C2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+133.8%</a:t>
                      </a:r>
                    </a:p>
                  </a:txBody>
                  <a:tcPr>
                    <a:solidFill>
                      <a:srgbClr val="2C2E3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JPY小幅貶值 (-5%)</a:t>
                      </a:r>
                    </a:p>
                  </a:txBody>
                  <a:tcPr>
                    <a:solidFill>
                      <a:srgbClr val="352E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20.48</a:t>
                      </a:r>
                    </a:p>
                  </a:txBody>
                  <a:tcPr>
                    <a:solidFill>
                      <a:srgbClr val="352E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102,294</a:t>
                      </a:r>
                    </a:p>
                  </a:txBody>
                  <a:tcPr>
                    <a:solidFill>
                      <a:srgbClr val="352E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4.26%</a:t>
                      </a:r>
                    </a:p>
                  </a:txBody>
                  <a:tcPr>
                    <a:solidFill>
                      <a:srgbClr val="352E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1,534,405</a:t>
                      </a:r>
                    </a:p>
                  </a:txBody>
                  <a:tcPr>
                    <a:solidFill>
                      <a:srgbClr val="352E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3,809,524</a:t>
                      </a:r>
                    </a:p>
                  </a:txBody>
                  <a:tcPr>
                    <a:solidFill>
                      <a:srgbClr val="352E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+122.7%</a:t>
                      </a:r>
                    </a:p>
                  </a:txBody>
                  <a:tcPr>
                    <a:solidFill>
                      <a:srgbClr val="352E2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JPY貶值 (-10%)</a:t>
                      </a:r>
                    </a:p>
                  </a:txBody>
                  <a:tcPr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21.45</a:t>
                      </a:r>
                    </a:p>
                  </a:txBody>
                  <a:tcPr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97,644</a:t>
                      </a:r>
                    </a:p>
                  </a:txBody>
                  <a:tcPr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4.07%</a:t>
                      </a:r>
                    </a:p>
                  </a:txBody>
                  <a:tcPr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1,464,659</a:t>
                      </a:r>
                    </a:p>
                  </a:txBody>
                  <a:tcPr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3,636,364</a:t>
                      </a:r>
                    </a:p>
                  </a:txBody>
                  <a:tcPr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+112.5%</a:t>
                      </a:r>
                    </a:p>
                  </a:txBody>
                  <a:tcPr>
                    <a:solidFill>
                      <a:srgbClr val="3A252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JPY大幅貶值 (-20%)</a:t>
                      </a:r>
                    </a:p>
                  </a:txBody>
                  <a:tcPr>
                    <a:solidFill>
                      <a:srgbClr val="3C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23.40</a:t>
                      </a:r>
                    </a:p>
                  </a:txBody>
                  <a:tcPr>
                    <a:solidFill>
                      <a:srgbClr val="3C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89,507</a:t>
                      </a:r>
                    </a:p>
                  </a:txBody>
                  <a:tcPr>
                    <a:solidFill>
                      <a:srgbClr val="3C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3.73%</a:t>
                      </a:r>
                    </a:p>
                  </a:txBody>
                  <a:tcPr>
                    <a:solidFill>
                      <a:srgbClr val="3C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1,342,604</a:t>
                      </a:r>
                    </a:p>
                  </a:txBody>
                  <a:tcPr>
                    <a:solidFill>
                      <a:srgbClr val="3C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HKD 3,333,333</a:t>
                      </a:r>
                    </a:p>
                  </a:txBody>
                  <a:tcPr>
                    <a:solidFill>
                      <a:srgbClr val="3C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+94.8%</a:t>
                      </a:r>
                    </a:p>
                  </a:txBody>
                  <a:tcPr>
                    <a:solidFill>
                      <a:srgbClr val="3C1A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Family Office | JPY Property FX Risk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每年淨租金收入 — 匯率情景對比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x_annual_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188720"/>
            <a:ext cx="4114800" cy="475488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  <a:latin typeface="Sarasa Mono SC"/>
              </a:defRPr>
            </a:pPr>
            <a:r>
              <a:t>核心發現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Sarasa Mono SC"/>
              </a:defRPr>
            </a:pPr>
            <a:r>
              <a:t>JPY升值情景: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arasa Mono SC"/>
              </a:defRPr>
            </a:pPr>
            <a:r>
              <a:t>日圓每升值10%，淨租金收入增加約HKD 12K/年，來自日圓兌換更多港元。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Sarasa Mono SC"/>
              </a:defRPr>
            </a:pPr>
            <a:r>
              <a:t>JPY貶值情景: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arasa Mono SC"/>
              </a:defRPr>
            </a:pPr>
            <a:r>
              <a:t>日圓每貶值10%，淨租金收入減少約HKD 10K/年，日圓購買力下降。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Sarasa Mono SC"/>
              </a:defRPr>
            </a:pPr>
            <a:r>
              <a:t>基準情景: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703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arasa Mono SC"/>
              </a:defRPr>
            </a:pPr>
            <a:r>
              <a:t>每年淨收入 HKD 107,408，淨回報率 4.48%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arasa Mono SC"/>
              </a:defRPr>
            </a:pPr>
            <a:r>
              <a:t>內在對沖效應: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按揭以日圓計算、租金以日圓收取，形成自然對沖。匯率風險主要影響淨租金收入及退出價值。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Family Office | JPY Property FX Risk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15年投資總回報 — 不同匯率情景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x_total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* 總回報 = 15年累計淨租金 + 物業套現價值（假設日圓物業價格不變）  |  投入本金: HKD 2,400,000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Family Office | JPY Property FX Risk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匯率敏感度分析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x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31520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280160"/>
            <a:ext cx="3840480" cy="137160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Sarasa Mono SC"/>
              </a:defRPr>
            </a:pPr>
            <a:r>
              <a:t>最佳情景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arasa Mono SC"/>
              </a:defRPr>
            </a:pPr>
            <a:r>
              <a:t>JPY升值+20%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arasa Mono SC"/>
              </a:defRPr>
            </a:pPr>
            <a:r>
              <a:t>年化回報: 7.4%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926080"/>
            <a:ext cx="3840480" cy="137160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84C"/>
                </a:solidFill>
                <a:latin typeface="Sarasa Mono SC"/>
              </a:defRPr>
            </a:pPr>
            <a:r>
              <a:t>基準情景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arasa Mono SC"/>
              </a:defRPr>
            </a:pPr>
            <a:r>
              <a:t>現匯率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arasa Mono SC"/>
              </a:defRPr>
            </a:pPr>
            <a:r>
              <a:t>年化回報: 5.8%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572000"/>
            <a:ext cx="3840480" cy="137160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Sarasa Mono SC"/>
              </a:defRPr>
            </a:pPr>
            <a:r>
              <a:t>最差情景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029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arasa Mono SC"/>
              </a:defRPr>
            </a:pPr>
            <a:r>
              <a:t>JPY貶值-20%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394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arasa Mono SC"/>
              </a:defRPr>
            </a:pPr>
            <a:r>
              <a:t>年化回報: 4.5%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A84C"/>
                </a:solidFill>
                <a:latin typeface="Sarasa Mono SC"/>
              </a:defRPr>
            </a:pPr>
            <a:r>
              <a:t>關鍵: 即使在最差情景（日圓貶值20%），年化回報仍達4.55%，顯示按揭槓杆在貶值環境中提供了一定緩衝。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Family Office | JPY Property FX Risk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關鍵指標摘要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x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52144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Family Office | JPY Property FX Risk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arasa Mono SC"/>
              </a:defRPr>
            </a:pPr>
            <a:r>
              <a:t>結論與建議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  <a:latin typeface="Sarasa Mono SC"/>
              </a:defRPr>
            </a:pPr>
            <a:r>
              <a:t>投資回報概要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arasa Mono SC"/>
              </a:defRPr>
            </a:pPr>
            <a:r>
              <a:t>• 基準情景下15年總回報率達 +133.8%，年化 5.8%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arasa Mono SC"/>
              </a:defRPr>
            </a:pPr>
            <a:r>
              <a:t>• 最佳情景（JPY+20%）年化回報 7.4%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arasa Mono SC"/>
              </a:defRPr>
            </a:pPr>
            <a:r>
              <a:t>• 最差情景（JPY-20%）年化回報仍達 4.5%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arasa Mono SC"/>
              </a:defRPr>
            </a:pPr>
            <a:r>
              <a:t>• 按揭槓杆（40% LTV）有效提升資金運用效率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  <a:latin typeface="Sarasa Mono SC"/>
              </a:defRPr>
            </a:pPr>
            <a:r>
              <a:t>匯率風險特徵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arasa Mono SC"/>
              </a:defRPr>
            </a:pPr>
            <a:r>
              <a:t>• 日圓按揭 + 日圓租金形成自然對沖，大幅降低匯率波動影響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arasa Mono SC"/>
              </a:defRPr>
            </a:pPr>
            <a:r>
              <a:t>• 匯率風險主要體現在淨租金收入（約佔總回報25-30%）及退出價值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arasa Mono SC"/>
              </a:defRPr>
            </a:pPr>
            <a:r>
              <a:t>• 日圓升值對投資者有利，貶值則壓縮回報但仍維持正回報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5303520" cy="484632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  <a:latin typeface="Sarasa Mono SC"/>
              </a:defRPr>
            </a:pPr>
            <a:r>
              <a:t>風險管理建議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arasa Mono SC"/>
              </a:defRPr>
            </a:pPr>
            <a:r>
              <a:t>1. 自然對沖優勢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2E8"/>
                </a:solidFill>
                <a:latin typeface="Sarasa Mono SC"/>
              </a:defRPr>
            </a:pPr>
            <a:r>
              <a:t>日圓按揭與日圓租金的幣種匹配已提供內建對沖，建議維持此結構，不需額外進行複雜的遠期合約對沖。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arasa Mono SC"/>
              </a:defRPr>
            </a:pPr>
            <a:r>
              <a:t>2. 分階段匯率轉換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71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2E8"/>
                </a:solidFill>
                <a:latin typeface="Sarasa Mono SC"/>
              </a:defRPr>
            </a:pPr>
            <a:r>
              <a:t>建議將每年的淨租金收入分4次（季度）轉換為港元，降低單次匯率波動的影響。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74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arasa Mono SC"/>
              </a:defRPr>
            </a:pPr>
            <a:r>
              <a:t>3. 退出時機規劃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2E8"/>
                </a:solidFill>
                <a:latin typeface="Sarasa Mono SC"/>
              </a:defRPr>
            </a:pPr>
            <a:r>
              <a:t>15年後物業出售時匯率不確定性最大，建議設定匯率目標區間（如JPY/HKD 17-22），在區間內分批套現。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97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arasa Mono SC"/>
              </a:defRPr>
            </a:pPr>
            <a:r>
              <a:t>4. 利率風險關注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617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2E8"/>
                </a:solidFill>
                <a:latin typeface="Sarasa Mono SC"/>
              </a:defRPr>
            </a:pPr>
            <a:r>
              <a:t>目前日本按揭利率3%處歷史低位，若未來日銀加息，需預留利率上升1-2%的緩衝空間。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120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arasa Mono SC"/>
              </a:defRPr>
            </a:pPr>
            <a:r>
              <a:t>5. 定期檢視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440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2E8"/>
                </a:solidFill>
                <a:latin typeface="Sarasa Mono SC"/>
              </a:defRPr>
            </a:pPr>
            <a:r>
              <a:t>建議每半年檢視一次匯率走勢及租金回報，必要時調整策略。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Family Office | JPY Property FX Risk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